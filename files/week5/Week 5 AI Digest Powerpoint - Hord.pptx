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bf901de0fb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bf901de0fb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bf901de0fb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bf901de0fb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bf901de0fb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bf901de0fb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bf901de0fb_0_1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bf901de0fb_0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bf901de0fb_0_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bf901de0fb_0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www.scientificamerican.com/article/how-close-are-todays-ai-models-to-agi-and-to-self-improving-into/" TargetMode="External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 txBox="1"/>
          <p:nvPr>
            <p:ph type="ctrTitle"/>
          </p:nvPr>
        </p:nvSpPr>
        <p:spPr>
          <a:xfrm>
            <a:off x="311708" y="13258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Close Are Today’s AI Models to AGI—And to Self-Improving into Superintelligence?</a:t>
            </a:r>
            <a:endParaRPr/>
          </a:p>
        </p:txBody>
      </p:sp>
      <p:sp>
        <p:nvSpPr>
          <p:cNvPr id="100" name="Google Shape;100;p25"/>
          <p:cNvSpPr txBox="1"/>
          <p:nvPr>
            <p:ph idx="1" type="subTitle"/>
          </p:nvPr>
        </p:nvSpPr>
        <p:spPr>
          <a:xfrm>
            <a:off x="311700" y="368035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Week of February 9th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Elias Hord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General Information</a:t>
            </a:r>
            <a:endParaRPr/>
          </a:p>
        </p:txBody>
      </p:sp>
      <p:sp>
        <p:nvSpPr>
          <p:cNvPr id="106" name="Google Shape;106;p26"/>
          <p:cNvSpPr txBox="1"/>
          <p:nvPr>
            <p:ph idx="1" type="body"/>
          </p:nvPr>
        </p:nvSpPr>
        <p:spPr>
          <a:xfrm>
            <a:off x="311700" y="1152475"/>
            <a:ext cx="87279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400"/>
              <a:t>Article Publication: </a:t>
            </a:r>
            <a:r>
              <a:rPr lang="en" sz="5400"/>
              <a:t>December 6, 2025</a:t>
            </a:r>
            <a:endParaRPr sz="5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5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5400" u="sng">
                <a:solidFill>
                  <a:schemeClr val="hlink"/>
                </a:solidFill>
                <a:hlinkClick r:id="rId3"/>
              </a:rPr>
              <a:t>https://www.scientificamerican.com/article/how-close-are-todays-ai-models-to-agi-and-to-self-improving-into/</a:t>
            </a:r>
            <a:r>
              <a:rPr lang="en" sz="5400"/>
              <a:t> </a:t>
            </a:r>
            <a:endParaRPr sz="5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7" name="Google Shape;107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40475" y="2317725"/>
            <a:ext cx="5200070" cy="2467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Main Findings and Arguments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27"/>
          <p:cNvSpPr txBox="1"/>
          <p:nvPr>
            <p:ph idx="1" type="body"/>
          </p:nvPr>
        </p:nvSpPr>
        <p:spPr>
          <a:xfrm>
            <a:off x="113100" y="1017725"/>
            <a:ext cx="8917800" cy="405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AI Progress Toward Self-Improvement:</a:t>
            </a:r>
            <a:r>
              <a:rPr lang="en" sz="1100">
                <a:solidFill>
                  <a:schemeClr val="dk1"/>
                </a:solidFill>
              </a:rPr>
              <a:t> Current advanced AI models can already write and refine software to a limited extent—e.g., systems like OpenAI’s Codex and Anthropic’s Claude Code can independently generate or modify code for a period of time. However, this </a:t>
            </a:r>
            <a:r>
              <a:rPr b="1" lang="en" sz="1100">
                <a:solidFill>
                  <a:schemeClr val="dk1"/>
                </a:solidFill>
              </a:rPr>
              <a:t>self-improvement is narrow and still guided by humans</a:t>
            </a:r>
            <a:r>
              <a:rPr lang="en" sz="1100">
                <a:solidFill>
                  <a:schemeClr val="dk1"/>
                </a:solidFill>
              </a:rPr>
              <a:t> rather than fully autonomous.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Human Involvement Remains Crucial:</a:t>
            </a:r>
            <a:r>
              <a:rPr lang="en" sz="1100">
                <a:solidFill>
                  <a:schemeClr val="dk1"/>
                </a:solidFill>
              </a:rPr>
              <a:t> Despite impressive capabilities, </a:t>
            </a:r>
            <a:r>
              <a:rPr b="1" lang="en" sz="1100">
                <a:solidFill>
                  <a:schemeClr val="dk1"/>
                </a:solidFill>
              </a:rPr>
              <a:t>AI still depends on humans to set goals, design experiments, and evaluate progress</a:t>
            </a:r>
            <a:r>
              <a:rPr lang="en" sz="1100">
                <a:solidFill>
                  <a:schemeClr val="dk1"/>
                </a:solidFill>
              </a:rPr>
              <a:t>. This means existing systems do not genuinely evolve on their own in an open-ended way.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Depth vs. Breadth of Intelligence:</a:t>
            </a:r>
            <a:r>
              <a:rPr lang="en" sz="1100">
                <a:solidFill>
                  <a:schemeClr val="dk1"/>
                </a:solidFill>
              </a:rPr>
              <a:t> While AI can process and manipulate vast amounts of information and sometimes outperform humans in specific tasks (like synthesizing large texts or discovering efficient algorithms), it </a:t>
            </a:r>
            <a:r>
              <a:rPr b="1" lang="en" sz="1100">
                <a:solidFill>
                  <a:schemeClr val="dk1"/>
                </a:solidFill>
              </a:rPr>
              <a:t>lacks the kind of flexible reasoning across domains that characterizes human intelligence</a:t>
            </a:r>
            <a:r>
              <a:rPr lang="en" sz="1100">
                <a:solidFill>
                  <a:schemeClr val="dk1"/>
                </a:solidFill>
              </a:rPr>
              <a:t>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AGI and “Intelligence Explosion”:</a:t>
            </a:r>
            <a:r>
              <a:rPr lang="en" sz="1100">
                <a:solidFill>
                  <a:schemeClr val="dk1"/>
                </a:solidFill>
              </a:rPr>
              <a:t> The article revisits the idea of an </a:t>
            </a:r>
            <a:r>
              <a:rPr b="1" lang="en" sz="1100">
                <a:solidFill>
                  <a:schemeClr val="dk1"/>
                </a:solidFill>
              </a:rPr>
              <a:t>“ultraintelligent machine”</a:t>
            </a:r>
            <a:r>
              <a:rPr lang="en" sz="1100">
                <a:solidFill>
                  <a:schemeClr val="dk1"/>
                </a:solidFill>
              </a:rPr>
              <a:t> from Irving John Good—that an AI capable of self-improvement could rapidly escalate into superintelligence. But current systems are not at that tipping point because they can’t self-direct their own evolution.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Divergent Expert Views:</a:t>
            </a:r>
            <a:r>
              <a:rPr lang="en" sz="1100">
                <a:solidFill>
                  <a:schemeClr val="dk1"/>
                </a:solidFill>
              </a:rPr>
              <a:t> Some researchers think AGI might arrive within a few years, while others argue that major scientific breakthroughs are still needed to truly understand intelligence and build systems with broad, human-like adaptability.</a:t>
            </a:r>
            <a:br>
              <a:rPr lang="en" sz="1100">
                <a:solidFill>
                  <a:schemeClr val="dk1"/>
                </a:solidFill>
              </a:rPr>
            </a:br>
            <a:endParaRPr sz="775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400"/>
              </a:spcAft>
              <a:buNone/>
            </a:pPr>
            <a:r>
              <a:t/>
            </a:r>
            <a:endParaRPr sz="375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Broader Implications for Society</a:t>
            </a:r>
            <a:endParaRPr/>
          </a:p>
        </p:txBody>
      </p:sp>
      <p:sp>
        <p:nvSpPr>
          <p:cNvPr id="119" name="Google Shape;119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Reality Check on Science Fiction:</a:t>
            </a:r>
            <a:r>
              <a:rPr lang="en" sz="1100">
                <a:solidFill>
                  <a:schemeClr val="dk1"/>
                </a:solidFill>
              </a:rPr>
              <a:t> The article argues that </a:t>
            </a:r>
            <a:r>
              <a:rPr b="1" lang="en" sz="1100">
                <a:solidFill>
                  <a:schemeClr val="dk1"/>
                </a:solidFill>
              </a:rPr>
              <a:t>popular narratives about imminent superintelligence (e.g., “The Matrix”), though attention-grabbing, overstate how close we are to systems that rival or surpass human cognitive abilities.</a:t>
            </a:r>
            <a:br>
              <a:rPr b="1" lang="en" sz="110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Human Roles in the Loop:</a:t>
            </a:r>
            <a:r>
              <a:rPr lang="en" sz="1100">
                <a:solidFill>
                  <a:schemeClr val="dk1"/>
                </a:solidFill>
              </a:rPr>
              <a:t> Since current AI cannot autonomously set goals or measure its own progress, </a:t>
            </a:r>
            <a:r>
              <a:rPr b="1" lang="en" sz="1100">
                <a:solidFill>
                  <a:schemeClr val="dk1"/>
                </a:solidFill>
              </a:rPr>
              <a:t>humans remain central to steering AI development</a:t>
            </a:r>
            <a:r>
              <a:rPr lang="en" sz="1100">
                <a:solidFill>
                  <a:schemeClr val="dk1"/>
                </a:solidFill>
              </a:rPr>
              <a:t>. This has implications for how industries, regulators, and the public view responsibility and control over powerful AI technologies.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Safety and Governance:</a:t>
            </a:r>
            <a:r>
              <a:rPr lang="en" sz="1100">
                <a:solidFill>
                  <a:schemeClr val="dk1"/>
                </a:solidFill>
              </a:rPr>
              <a:t> Because completely self-improving AI could theoretically trigger rapid, unpredictable advancements, </a:t>
            </a:r>
            <a:r>
              <a:rPr b="1" lang="en" sz="1100">
                <a:solidFill>
                  <a:schemeClr val="dk1"/>
                </a:solidFill>
              </a:rPr>
              <a:t>AI safety testing and frameworks to monitor progress matter more than ever</a:t>
            </a:r>
            <a:r>
              <a:rPr lang="en" sz="1100">
                <a:solidFill>
                  <a:schemeClr val="dk1"/>
                </a:solidFill>
              </a:rPr>
              <a:t>, especially as capabilities grow.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Polarized Predictions and Public Perception:</a:t>
            </a:r>
            <a:r>
              <a:rPr lang="en" sz="1100">
                <a:solidFill>
                  <a:schemeClr val="dk1"/>
                </a:solidFill>
              </a:rPr>
              <a:t> The debate over how soon AGI might arrive—ranging from a few years to much longer—can shape public expectations, influence investment, and drive policy discussions about ethical oversight and regulation.</a:t>
            </a:r>
            <a:br>
              <a:rPr lang="en" sz="1100">
                <a:solidFill>
                  <a:schemeClr val="dk1"/>
                </a:solidFill>
              </a:rPr>
            </a:br>
            <a:endParaRPr sz="887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688"/>
              <a:buNone/>
            </a:pPr>
            <a:r>
              <a:t/>
            </a:r>
            <a:endParaRPr sz="1125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20"/>
              <a:t>Relevance or Potential Influence on the Construction Industry</a:t>
            </a:r>
            <a:endParaRPr sz="2320"/>
          </a:p>
        </p:txBody>
      </p:sp>
      <p:sp>
        <p:nvSpPr>
          <p:cNvPr id="125" name="Google Shape;125;p29"/>
          <p:cNvSpPr txBox="1"/>
          <p:nvPr>
            <p:ph idx="1" type="body"/>
          </p:nvPr>
        </p:nvSpPr>
        <p:spPr>
          <a:xfrm>
            <a:off x="311700" y="11598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Enhanced Design and Planning Tools:</a:t>
            </a:r>
            <a:r>
              <a:rPr lang="en" sz="1100">
                <a:solidFill>
                  <a:schemeClr val="dk1"/>
                </a:solidFill>
              </a:rPr>
              <a:t> Current AI’s ability to synthesize and analyze massive datasets could </a:t>
            </a:r>
            <a:r>
              <a:rPr b="1" lang="en" sz="1100">
                <a:solidFill>
                  <a:schemeClr val="dk1"/>
                </a:solidFill>
              </a:rPr>
              <a:t>improve workflows such as planning, modeling, and code compliance checks</a:t>
            </a:r>
            <a:r>
              <a:rPr lang="en" sz="1100">
                <a:solidFill>
                  <a:schemeClr val="dk1"/>
                </a:solidFill>
              </a:rPr>
              <a:t>. For example, uploading complex architectural plans and having AI generate critiques or options could save substantial time.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Code Generation and Automation:</a:t>
            </a:r>
            <a:r>
              <a:rPr lang="en" sz="1100">
                <a:solidFill>
                  <a:schemeClr val="dk1"/>
                </a:solidFill>
              </a:rPr>
              <a:t> Tools that can autonomously write or improve software might translate into </a:t>
            </a:r>
            <a:r>
              <a:rPr b="1" lang="en" sz="1100">
                <a:solidFill>
                  <a:schemeClr val="dk1"/>
                </a:solidFill>
              </a:rPr>
              <a:t>automation of scheduling, resource allocation, and logistics software</a:t>
            </a:r>
            <a:r>
              <a:rPr lang="en" sz="1100">
                <a:solidFill>
                  <a:schemeClr val="dk1"/>
                </a:solidFill>
              </a:rPr>
              <a:t>—key components in modern construction project management.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Human-AI Collaboration:</a:t>
            </a:r>
            <a:r>
              <a:rPr lang="en" sz="1100">
                <a:solidFill>
                  <a:schemeClr val="dk1"/>
                </a:solidFill>
              </a:rPr>
              <a:t> Since the article stresses that AI still needs humans to guide and assess progress, the </a:t>
            </a:r>
            <a:r>
              <a:rPr b="1" lang="en" sz="1100">
                <a:solidFill>
                  <a:schemeClr val="dk1"/>
                </a:solidFill>
              </a:rPr>
              <a:t>future of AI in construction likely involves collaboration</a:t>
            </a:r>
            <a:r>
              <a:rPr lang="en" sz="1100">
                <a:solidFill>
                  <a:schemeClr val="dk1"/>
                </a:solidFill>
              </a:rPr>
              <a:t>—where engineers and project managers leverage AI insights while providing judgment and oversight.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Long-Term Outlook on Autonomous Agents:</a:t>
            </a:r>
            <a:r>
              <a:rPr lang="en" sz="1100">
                <a:solidFill>
                  <a:schemeClr val="dk1"/>
                </a:solidFill>
              </a:rPr>
              <a:t> If AI eventually reaches broader reasoning and self-improvement abilities (AGI), construction could see much deeper automation—potentially </a:t>
            </a:r>
            <a:r>
              <a:rPr b="1" lang="en" sz="1100">
                <a:solidFill>
                  <a:schemeClr val="dk1"/>
                </a:solidFill>
              </a:rPr>
              <a:t>AI agents managing entire projects, optimizing processes, or integrating robotics in physical tasks</a:t>
            </a:r>
            <a:r>
              <a:rPr lang="en" sz="1100">
                <a:solidFill>
                  <a:schemeClr val="dk1"/>
                </a:solidFill>
              </a:rPr>
              <a:t>. Right now, though, that level remains theoretical.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