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901de0f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f901de0f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f901de0f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f901de0f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901de0f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f901de0f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901de0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f901de0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901de0f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f901de0f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procore.com/library/ai-construction-tools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1325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Construction Tools: Optimizing Every Stage of Construction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of February 16th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Article Publication: </a:t>
            </a:r>
            <a:r>
              <a:rPr lang="en" sz="5400"/>
              <a:t>December 12, 2025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https://www.procore.com/library/ai-construction-tools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963" y="2371375"/>
            <a:ext cx="5200070" cy="2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" sz="1035">
                <a:solidFill>
                  <a:schemeClr val="dk1"/>
                </a:solidFill>
              </a:rPr>
              <a:t>AI tools are transforming construction</a:t>
            </a:r>
            <a:r>
              <a:rPr lang="en" sz="1035">
                <a:solidFill>
                  <a:schemeClr val="dk1"/>
                </a:solidFill>
              </a:rPr>
              <a:t> by automating repetitive tasks, enhancing data analysis, and improving decision-making across the full project lifecycle—from preconstruction through field operations. These tools leverage advanced technologies such as </a:t>
            </a:r>
            <a:r>
              <a:rPr b="1" lang="en" sz="1035">
                <a:solidFill>
                  <a:schemeClr val="dk1"/>
                </a:solidFill>
              </a:rPr>
              <a:t>machine learning (ML)</a:t>
            </a:r>
            <a:r>
              <a:rPr lang="en" sz="1035">
                <a:solidFill>
                  <a:schemeClr val="dk1"/>
                </a:solidFill>
              </a:rPr>
              <a:t> to learn from historical data, </a:t>
            </a:r>
            <a:r>
              <a:rPr b="1" lang="en" sz="1035">
                <a:solidFill>
                  <a:schemeClr val="dk1"/>
                </a:solidFill>
              </a:rPr>
              <a:t>natural language processing (NLP)</a:t>
            </a:r>
            <a:r>
              <a:rPr lang="en" sz="1035">
                <a:solidFill>
                  <a:schemeClr val="dk1"/>
                </a:solidFill>
              </a:rPr>
              <a:t> to interpret human language, and </a:t>
            </a:r>
            <a:r>
              <a:rPr b="1" lang="en" sz="1035">
                <a:solidFill>
                  <a:schemeClr val="dk1"/>
                </a:solidFill>
              </a:rPr>
              <a:t>predictive analytics</a:t>
            </a:r>
            <a:r>
              <a:rPr lang="en" sz="1035">
                <a:solidFill>
                  <a:schemeClr val="dk1"/>
                </a:solidFill>
              </a:rPr>
              <a:t> to forecast issues before they occur.</a:t>
            </a:r>
            <a:endParaRPr sz="10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035">
                <a:solidFill>
                  <a:schemeClr val="dk1"/>
                </a:solidFill>
              </a:rPr>
              <a:t>The article highlights a wide range of </a:t>
            </a:r>
            <a:r>
              <a:rPr b="1" lang="en" sz="1035">
                <a:solidFill>
                  <a:schemeClr val="dk1"/>
                </a:solidFill>
              </a:rPr>
              <a:t>AI applications</a:t>
            </a:r>
            <a:r>
              <a:rPr lang="en" sz="1035">
                <a:solidFill>
                  <a:schemeClr val="dk1"/>
                </a:solidFill>
              </a:rPr>
              <a:t>, including:</a:t>
            </a: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b="1" lang="en" sz="1035">
                <a:solidFill>
                  <a:schemeClr val="dk1"/>
                </a:solidFill>
              </a:rPr>
              <a:t>Preconstruction estimating</a:t>
            </a:r>
            <a:r>
              <a:rPr lang="en" sz="1035">
                <a:solidFill>
                  <a:schemeClr val="dk1"/>
                </a:solidFill>
              </a:rPr>
              <a:t> and quantity takeoffs that reduce errors and speed up early planning.</a:t>
            </a:r>
            <a:br>
              <a:rPr lang="en" sz="1035">
                <a:solidFill>
                  <a:schemeClr val="dk1"/>
                </a:solidFill>
              </a:rPr>
            </a:b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b="1" lang="en" sz="1035">
                <a:solidFill>
                  <a:schemeClr val="dk1"/>
                </a:solidFill>
              </a:rPr>
              <a:t>Design and planning</a:t>
            </a:r>
            <a:r>
              <a:rPr lang="en" sz="1035">
                <a:solidFill>
                  <a:schemeClr val="dk1"/>
                </a:solidFill>
              </a:rPr>
              <a:t> support via AI-enhanced BIM tools that predict costs and optimize layouts.</a:t>
            </a:r>
            <a:br>
              <a:rPr lang="en" sz="1035">
                <a:solidFill>
                  <a:schemeClr val="dk1"/>
                </a:solidFill>
              </a:rPr>
            </a:b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b="1" lang="en" sz="1035">
                <a:solidFill>
                  <a:schemeClr val="dk1"/>
                </a:solidFill>
              </a:rPr>
              <a:t>Project management</a:t>
            </a:r>
            <a:r>
              <a:rPr lang="en" sz="1035">
                <a:solidFill>
                  <a:schemeClr val="dk1"/>
                </a:solidFill>
              </a:rPr>
              <a:t> systems that adapt schedules in real time.</a:t>
            </a:r>
            <a:br>
              <a:rPr lang="en" sz="1035">
                <a:solidFill>
                  <a:schemeClr val="dk1"/>
                </a:solidFill>
              </a:rPr>
            </a:b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b="1" lang="en" sz="1035">
                <a:solidFill>
                  <a:schemeClr val="dk1"/>
                </a:solidFill>
              </a:rPr>
              <a:t>Field monitoring</a:t>
            </a:r>
            <a:r>
              <a:rPr lang="en" sz="1035">
                <a:solidFill>
                  <a:schemeClr val="dk1"/>
                </a:solidFill>
              </a:rPr>
              <a:t>, safety surveillance, and site documentation using AI-powered visibility tools.</a:t>
            </a:r>
            <a:br>
              <a:rPr lang="en" sz="1035">
                <a:solidFill>
                  <a:schemeClr val="dk1"/>
                </a:solidFill>
              </a:rPr>
            </a:b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b="1" lang="en" sz="1035">
                <a:solidFill>
                  <a:schemeClr val="dk1"/>
                </a:solidFill>
              </a:rPr>
              <a:t>Supply chain optimization</a:t>
            </a:r>
            <a:r>
              <a:rPr lang="en" sz="1035">
                <a:solidFill>
                  <a:schemeClr val="dk1"/>
                </a:solidFill>
              </a:rPr>
              <a:t>, equipment maintenance forecasting and robotic automation of physical tasks.</a:t>
            </a:r>
            <a:br>
              <a:rPr lang="en" sz="1035">
                <a:solidFill>
                  <a:schemeClr val="dk1"/>
                </a:solidFill>
              </a:rPr>
            </a:br>
            <a:endParaRPr sz="10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035">
                <a:solidFill>
                  <a:schemeClr val="dk1"/>
                </a:solidFill>
              </a:rPr>
              <a:t>The authors argue that these technologies </a:t>
            </a:r>
            <a:r>
              <a:rPr b="1" lang="en" sz="1035">
                <a:solidFill>
                  <a:schemeClr val="dk1"/>
                </a:solidFill>
              </a:rPr>
              <a:t>not only boost efficiency and cut costs</a:t>
            </a:r>
            <a:r>
              <a:rPr lang="en" sz="1035">
                <a:solidFill>
                  <a:schemeClr val="dk1"/>
                </a:solidFill>
              </a:rPr>
              <a:t>, but also significantly </a:t>
            </a:r>
            <a:r>
              <a:rPr b="1" lang="en" sz="1035">
                <a:solidFill>
                  <a:schemeClr val="dk1"/>
                </a:solidFill>
              </a:rPr>
              <a:t>enhance safety and data-driven insights</a:t>
            </a:r>
            <a:r>
              <a:rPr lang="en" sz="1035">
                <a:solidFill>
                  <a:schemeClr val="dk1"/>
                </a:solidFill>
              </a:rPr>
              <a:t>, elevating the overall performance of construction projects.</a:t>
            </a:r>
            <a:endParaRPr b="1" sz="10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AI adoption in construction has impacts beyond individual job sites: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Workforce Transformation</a:t>
            </a:r>
            <a:endParaRPr b="1" sz="10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AI can help address labor shortages and reduce reliance on manual labor by automating routine tasks. This could shift the workforce toward higher-skill roles involving oversight, strategy, and complex problem-solving.</a:t>
            </a:r>
            <a:br>
              <a:rPr lang="en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Safety and Public Outcomes</a:t>
            </a:r>
            <a:endParaRPr b="1" sz="10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Safer job sites benefit workers and surrounding communities, reducing injuries and potentially lowering insurance and medical costs. Real-time monitoring and hazard detection can make construction environments much safer and responsive.</a:t>
            </a:r>
            <a:br>
              <a:rPr lang="en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Data-Driven Infrastructure</a:t>
            </a:r>
            <a:endParaRPr b="1" sz="10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Digitization of construction data supports better facility operations and maintenance after project completion, potentially improving infrastructure longevity and efficiency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 Ethical and Privacy Considerations</a:t>
            </a:r>
            <a:endParaRPr b="1" sz="10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As seen in broader industry reporting, AI’s use of real-time monitoring and large volumes of data raises concerns about </a:t>
            </a:r>
            <a:r>
              <a:rPr b="1" lang="en" sz="800">
                <a:solidFill>
                  <a:schemeClr val="dk1"/>
                </a:solidFill>
              </a:rPr>
              <a:t>privacy, data security, and worker autonomy</a:t>
            </a:r>
            <a:r>
              <a:rPr lang="en" sz="800">
                <a:solidFill>
                  <a:schemeClr val="dk1"/>
                </a:solidFill>
              </a:rPr>
              <a:t>, requiring careful governance and transparent practices.</a:t>
            </a:r>
            <a:br>
              <a:rPr lang="en" sz="800">
                <a:solidFill>
                  <a:schemeClr val="dk1"/>
                </a:solidFill>
              </a:rPr>
            </a:br>
            <a:endParaRPr sz="5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6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311700" y="1159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Competitive Pressure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AI tools are quickly becoming a competitive necessity. Firms that adopt AI are able to deliver projects with less waste, lower costs, and better safety records, while those that lag risk losing bids and market share.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Improved Project Outcomes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AI-powered tools can identify risks such as schedule delays, cost overruns, and safety hazards </a:t>
            </a:r>
            <a:r>
              <a:rPr b="1" lang="en" sz="700">
                <a:solidFill>
                  <a:schemeClr val="dk1"/>
                </a:solidFill>
              </a:rPr>
              <a:t>before</a:t>
            </a:r>
            <a:r>
              <a:rPr lang="en" sz="700">
                <a:solidFill>
                  <a:schemeClr val="dk1"/>
                </a:solidFill>
              </a:rPr>
              <a:t> they become problems, leading to more predictable and efficient project delivery.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Shift in Roles and Skills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The industry will likely need a workforce with stronger digital literacy, capable of interpreting AI-generated insights and integrating them into project decisions. This may reshape training and hiring practices.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Integration with Existing Software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Many construction platforms (such as </a:t>
            </a:r>
            <a:r>
              <a:rPr b="1" lang="en" sz="700">
                <a:solidFill>
                  <a:schemeClr val="dk1"/>
                </a:solidFill>
              </a:rPr>
              <a:t>Procore</a:t>
            </a:r>
            <a:r>
              <a:rPr lang="en" sz="700">
                <a:solidFill>
                  <a:schemeClr val="dk1"/>
                </a:solidFill>
              </a:rPr>
              <a:t>) are embedding or partnering with AI components to offer centralized, AI-augmented project management, signaling that </a:t>
            </a:r>
            <a:r>
              <a:rPr b="1" lang="en" sz="700">
                <a:solidFill>
                  <a:schemeClr val="dk1"/>
                </a:solidFill>
              </a:rPr>
              <a:t>AI will become standard in construction tech stacks</a:t>
            </a:r>
            <a:r>
              <a:rPr lang="en" sz="700">
                <a:solidFill>
                  <a:schemeClr val="dk1"/>
                </a:solidFill>
              </a:rPr>
              <a:t>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Future Outlook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The article suggests that AI will continue to evolve—introducing greater automation (e.g., robotics, autonomous drones) and deeper predictive insights—ushering in a </a:t>
            </a:r>
            <a:r>
              <a:rPr b="1" lang="en" sz="700">
                <a:solidFill>
                  <a:schemeClr val="dk1"/>
                </a:solidFill>
              </a:rPr>
              <a:t>smarter, more collaborative era</a:t>
            </a:r>
            <a:r>
              <a:rPr lang="en" sz="700">
                <a:solidFill>
                  <a:schemeClr val="dk1"/>
                </a:solidFill>
              </a:rPr>
              <a:t> of construction. 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3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