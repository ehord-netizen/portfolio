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j3EEj0+XdevpjnZFn1FYNa60C+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pewresearch.org/short-reads/2026/03/12/key-findings-about-how-americans-view-artificial-intelligence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2250150" y="1245750"/>
            <a:ext cx="4643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8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Key findings about how Americans view artificial intelligence</a:t>
            </a:r>
            <a:endParaRPr sz="328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36803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Week of March 23th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Elias Hord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General Information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727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3332"/>
              <a:buNone/>
            </a:pPr>
            <a:r>
              <a:rPr lang="en" sz="5400"/>
              <a:t>Article Publication: March 12, 2026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t/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rPr lang="en" sz="5400" u="sng">
                <a:solidFill>
                  <a:schemeClr val="hlink"/>
                </a:solidFill>
                <a:hlinkClick r:id="rId3"/>
              </a:rPr>
              <a:t>https://www.pewresearch.org/short-reads/2026/03/12/key-findings-about-how-americans-view-artificial-intelligence/</a:t>
            </a:r>
            <a:r>
              <a:rPr lang="en" sz="5400"/>
              <a:t> </a:t>
            </a:r>
            <a:r>
              <a:rPr lang="en" sz="5400"/>
              <a:t> 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2" name="Google Shape;6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4150" y="2442000"/>
            <a:ext cx="5372002" cy="254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Main Findings and 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113100" y="1017725"/>
            <a:ext cx="8917800" cy="4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b="1" lang="en" sz="600">
                <a:solidFill>
                  <a:schemeClr val="dk1"/>
                </a:solidFill>
              </a:rPr>
              <a:t>Public sentiment is cautious and skeptical</a:t>
            </a:r>
            <a:br>
              <a:rPr b="1" lang="en" sz="600">
                <a:solidFill>
                  <a:schemeClr val="dk1"/>
                </a:solidFill>
              </a:rPr>
            </a:br>
            <a:endParaRPr b="1"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About </a:t>
            </a:r>
            <a:r>
              <a:rPr b="1" lang="en" sz="600">
                <a:solidFill>
                  <a:schemeClr val="dk1"/>
                </a:solidFill>
              </a:rPr>
              <a:t>50% of Americans feel more concerned than excited</a:t>
            </a:r>
            <a:r>
              <a:rPr lang="en" sz="600">
                <a:solidFill>
                  <a:schemeClr val="dk1"/>
                </a:solidFill>
              </a:rPr>
              <a:t> about AI, while only a small share feel mostly excited.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Many people see AI as advancing quickly but with uncertain consequences.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b="1" lang="en" sz="600">
                <a:solidFill>
                  <a:schemeClr val="dk1"/>
                </a:solidFill>
              </a:rPr>
              <a:t>AI use is growing, but not universal</a:t>
            </a:r>
            <a:br>
              <a:rPr b="1" lang="en" sz="600">
                <a:solidFill>
                  <a:schemeClr val="dk1"/>
                </a:solidFill>
              </a:rPr>
            </a:br>
            <a:endParaRPr b="1"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Around </a:t>
            </a:r>
            <a:r>
              <a:rPr b="1" lang="en" sz="600">
                <a:solidFill>
                  <a:schemeClr val="dk1"/>
                </a:solidFill>
              </a:rPr>
              <a:t>21% of workers use AI in some part of their job</a:t>
            </a:r>
            <a:r>
              <a:rPr lang="en" sz="600">
                <a:solidFill>
                  <a:schemeClr val="dk1"/>
                </a:solidFill>
              </a:rPr>
              <a:t>, up from previous years—but </a:t>
            </a:r>
            <a:r>
              <a:rPr b="1" lang="en" sz="600">
                <a:solidFill>
                  <a:schemeClr val="dk1"/>
                </a:solidFill>
              </a:rPr>
              <a:t>most still rarely or never use it</a:t>
            </a:r>
            <a:r>
              <a:rPr lang="en" sz="600">
                <a:solidFill>
                  <a:schemeClr val="dk1"/>
                </a:solidFill>
              </a:rPr>
              <a:t>.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AI is becoming more common in everyday life (school, work, healthcare), but adoption is uneven.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b="1" lang="en" sz="600">
                <a:solidFill>
                  <a:schemeClr val="dk1"/>
                </a:solidFill>
              </a:rPr>
              <a:t>Younger generations are more engaged</a:t>
            </a:r>
            <a:br>
              <a:rPr b="1" lang="en" sz="600">
                <a:solidFill>
                  <a:schemeClr val="dk1"/>
                </a:solidFill>
              </a:rPr>
            </a:br>
            <a:endParaRPr b="1"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A majority of teens have used AI tools (like chatbots), though concerns about misuse (e.g., cheating) are widespread.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b="1" lang="en" sz="600">
                <a:solidFill>
                  <a:schemeClr val="dk1"/>
                </a:solidFill>
              </a:rPr>
              <a:t>Mixed expectations about AI’s impact</a:t>
            </a:r>
            <a:br>
              <a:rPr b="1" lang="en" sz="600">
                <a:solidFill>
                  <a:schemeClr val="dk1"/>
                </a:solidFill>
              </a:rPr>
            </a:br>
            <a:endParaRPr b="1"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Americans see </a:t>
            </a:r>
            <a:r>
              <a:rPr b="1" lang="en" sz="600">
                <a:solidFill>
                  <a:schemeClr val="dk1"/>
                </a:solidFill>
              </a:rPr>
              <a:t>potential benefits</a:t>
            </a:r>
            <a:r>
              <a:rPr lang="en" sz="600">
                <a:solidFill>
                  <a:schemeClr val="dk1"/>
                </a:solidFill>
              </a:rPr>
              <a:t>, especially in areas like healthcare and productivity.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At the same time, they worry about: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66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■"/>
            </a:pPr>
            <a:r>
              <a:rPr lang="en" sz="600">
                <a:solidFill>
                  <a:schemeClr val="dk1"/>
                </a:solidFill>
              </a:rPr>
              <a:t>Job loss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66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■"/>
            </a:pPr>
            <a:r>
              <a:rPr lang="en" sz="600">
                <a:solidFill>
                  <a:schemeClr val="dk1"/>
                </a:solidFill>
              </a:rPr>
              <a:t>Loss of critical thinking skills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66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■"/>
            </a:pPr>
            <a:r>
              <a:rPr lang="en" sz="600">
                <a:solidFill>
                  <a:schemeClr val="dk1"/>
                </a:solidFill>
              </a:rPr>
              <a:t>Ethical and societal risks</a:t>
            </a:r>
            <a:br>
              <a:rPr lang="en" sz="6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b="1" lang="en" sz="600">
                <a:solidFill>
                  <a:schemeClr val="dk1"/>
                </a:solidFill>
              </a:rPr>
              <a:t>Overall attitude: “Interested but wary”</a:t>
            </a:r>
            <a:br>
              <a:rPr b="1" lang="en" sz="600">
                <a:solidFill>
                  <a:schemeClr val="dk1"/>
                </a:solidFill>
              </a:rPr>
            </a:br>
            <a:endParaRPr b="1"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The public is not fully anti-AI or pro-AI—rather, they hold </a:t>
            </a:r>
            <a:r>
              <a:rPr b="1" lang="en" sz="600">
                <a:solidFill>
                  <a:schemeClr val="dk1"/>
                </a:solidFill>
              </a:rPr>
              <a:t>balanced, cautious views</a:t>
            </a:r>
            <a:r>
              <a:rPr lang="en" sz="600">
                <a:solidFill>
                  <a:schemeClr val="dk1"/>
                </a:solidFill>
              </a:rPr>
              <a:t>, recognizing both risks and opportunities.</a:t>
            </a:r>
            <a:br>
              <a:rPr lang="en" sz="600">
                <a:solidFill>
                  <a:schemeClr val="dk1"/>
                </a:solidFill>
              </a:rPr>
            </a:br>
            <a:endParaRPr b="1" sz="33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Broader Implications for Society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017725"/>
            <a:ext cx="8674500" cy="3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Trust and governance will be critical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Public concern suggests strong demand for </a:t>
            </a:r>
            <a:r>
              <a:rPr b="1" lang="en" sz="1100">
                <a:solidFill>
                  <a:schemeClr val="dk1"/>
                </a:solidFill>
              </a:rPr>
              <a:t>regulation, transparency, and oversight</a:t>
            </a:r>
            <a:r>
              <a:rPr lang="en" sz="1100">
                <a:solidFill>
                  <a:schemeClr val="dk1"/>
                </a:solidFill>
              </a:rPr>
              <a:t> of AI systems.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Without trust, adoption could slow despite technological progress.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Potential societal divide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Differences in AI usage (by age, job type, and experience) could widen </a:t>
            </a:r>
            <a:r>
              <a:rPr b="1" lang="en" sz="1100">
                <a:solidFill>
                  <a:schemeClr val="dk1"/>
                </a:solidFill>
              </a:rPr>
              <a:t>digital inequality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Those who use AI effectively may gain economic and educational advantages.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Shifts in education and skills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Concerns about cheating and overreliance indicate a need to </a:t>
            </a:r>
            <a:r>
              <a:rPr b="1" lang="en" sz="1100">
                <a:solidFill>
                  <a:schemeClr val="dk1"/>
                </a:solidFill>
              </a:rPr>
              <a:t>rethink education systems</a:t>
            </a:r>
            <a:r>
              <a:rPr lang="en" sz="1100">
                <a:solidFill>
                  <a:schemeClr val="dk1"/>
                </a:solidFill>
              </a:rPr>
              <a:t>, focusing more on critical thinking and AI literacy.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Cultural and cognitive impact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Many fear AI could reduce creativity, human interaction, and independent thinking—raising long-term questions about how people learn and work.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Gradual—not sudden—transformation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Despite rapid headlines, real-world adoption is still developing, suggesting AI’s societal impact will be </a:t>
            </a:r>
            <a:r>
              <a:rPr b="1" lang="en" sz="1100">
                <a:solidFill>
                  <a:schemeClr val="dk1"/>
                </a:solidFill>
              </a:rPr>
              <a:t>incremental but significant over time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endParaRPr sz="12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108875" y="1017725"/>
            <a:ext cx="8520600" cy="3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03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b="1" lang="en" sz="500">
                <a:solidFill>
                  <a:schemeClr val="dk1"/>
                </a:solidFill>
              </a:rPr>
              <a:t>Slow but growing adoption mirrors national trends</a:t>
            </a:r>
            <a:br>
              <a:rPr b="1" lang="en" sz="500">
                <a:solidFill>
                  <a:schemeClr val="dk1"/>
                </a:solidFill>
              </a:rPr>
            </a:br>
            <a:endParaRPr b="1" sz="500">
              <a:solidFill>
                <a:schemeClr val="dk1"/>
              </a:solidFill>
            </a:endParaRPr>
          </a:p>
          <a:p>
            <a:pPr indent="-260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○"/>
            </a:pPr>
            <a:r>
              <a:rPr lang="en" sz="500">
                <a:solidFill>
                  <a:schemeClr val="dk1"/>
                </a:solidFill>
              </a:rPr>
              <a:t>Like the broader workforce, construction is likely in the </a:t>
            </a:r>
            <a:r>
              <a:rPr b="1" lang="en" sz="500">
                <a:solidFill>
                  <a:schemeClr val="dk1"/>
                </a:solidFill>
              </a:rPr>
              <a:t>early stages of AI adoption</a:t>
            </a:r>
            <a:r>
              <a:rPr lang="en" sz="500">
                <a:solidFill>
                  <a:schemeClr val="dk1"/>
                </a:solidFill>
              </a:rPr>
              <a:t>, with gradual integration into workflows.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b="1" lang="en" sz="500">
                <a:solidFill>
                  <a:schemeClr val="dk1"/>
                </a:solidFill>
              </a:rPr>
              <a:t>Opportunities for productivity gains</a:t>
            </a:r>
            <a:br>
              <a:rPr b="1" lang="en" sz="500">
                <a:solidFill>
                  <a:schemeClr val="dk1"/>
                </a:solidFill>
              </a:rPr>
            </a:br>
            <a:endParaRPr b="1" sz="500">
              <a:solidFill>
                <a:schemeClr val="dk1"/>
              </a:solidFill>
            </a:endParaRPr>
          </a:p>
          <a:p>
            <a:pPr indent="-260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○"/>
            </a:pPr>
            <a:r>
              <a:rPr lang="en" sz="500">
                <a:solidFill>
                  <a:schemeClr val="dk1"/>
                </a:solidFill>
              </a:rPr>
              <a:t>AI could support: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■"/>
            </a:pPr>
            <a:r>
              <a:rPr lang="en" sz="500">
                <a:solidFill>
                  <a:schemeClr val="dk1"/>
                </a:solidFill>
              </a:rPr>
              <a:t>Project planning and scheduling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■"/>
            </a:pPr>
            <a:r>
              <a:rPr lang="en" sz="500">
                <a:solidFill>
                  <a:schemeClr val="dk1"/>
                </a:solidFill>
              </a:rPr>
              <a:t>Cost estimation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■"/>
            </a:pPr>
            <a:r>
              <a:rPr lang="en" sz="500">
                <a:solidFill>
                  <a:schemeClr val="dk1"/>
                </a:solidFill>
              </a:rPr>
              <a:t>Risk prediction and safety monitoring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○"/>
            </a:pPr>
            <a:r>
              <a:rPr lang="en" sz="500">
                <a:solidFill>
                  <a:schemeClr val="dk1"/>
                </a:solidFill>
              </a:rPr>
              <a:t>Public openness to AI in practical applications suggests these uses may be more accepted.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b="1" lang="en" sz="500">
                <a:solidFill>
                  <a:schemeClr val="dk1"/>
                </a:solidFill>
              </a:rPr>
              <a:t>Workforce resistance and training needs</a:t>
            </a:r>
            <a:br>
              <a:rPr b="1" lang="en" sz="500">
                <a:solidFill>
                  <a:schemeClr val="dk1"/>
                </a:solidFill>
              </a:rPr>
            </a:br>
            <a:endParaRPr b="1" sz="500">
              <a:solidFill>
                <a:schemeClr val="dk1"/>
              </a:solidFill>
            </a:endParaRPr>
          </a:p>
          <a:p>
            <a:pPr indent="-260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○"/>
            </a:pPr>
            <a:r>
              <a:rPr lang="en" sz="500">
                <a:solidFill>
                  <a:schemeClr val="dk1"/>
                </a:solidFill>
              </a:rPr>
              <a:t>Skepticism about AI means construction firms may face: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■"/>
            </a:pPr>
            <a:r>
              <a:rPr lang="en" sz="500">
                <a:solidFill>
                  <a:schemeClr val="dk1"/>
                </a:solidFill>
              </a:rPr>
              <a:t>Resistance from workers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■"/>
            </a:pPr>
            <a:r>
              <a:rPr lang="en" sz="500">
                <a:solidFill>
                  <a:schemeClr val="dk1"/>
                </a:solidFill>
              </a:rPr>
              <a:t>A need for </a:t>
            </a:r>
            <a:r>
              <a:rPr b="1" lang="en" sz="500">
                <a:solidFill>
                  <a:schemeClr val="dk1"/>
                </a:solidFill>
              </a:rPr>
              <a:t>training and education</a:t>
            </a:r>
            <a:r>
              <a:rPr lang="en" sz="500">
                <a:solidFill>
                  <a:schemeClr val="dk1"/>
                </a:solidFill>
              </a:rPr>
              <a:t> to build trust and competence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b="1" lang="en" sz="500">
                <a:solidFill>
                  <a:schemeClr val="dk1"/>
                </a:solidFill>
              </a:rPr>
              <a:t>Safety and liability concerns</a:t>
            </a:r>
            <a:br>
              <a:rPr b="1" lang="en" sz="500">
                <a:solidFill>
                  <a:schemeClr val="dk1"/>
                </a:solidFill>
              </a:rPr>
            </a:br>
            <a:endParaRPr b="1" sz="500">
              <a:solidFill>
                <a:schemeClr val="dk1"/>
              </a:solidFill>
            </a:endParaRPr>
          </a:p>
          <a:p>
            <a:pPr indent="-260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○"/>
            </a:pPr>
            <a:r>
              <a:rPr lang="en" sz="500">
                <a:solidFill>
                  <a:schemeClr val="dk1"/>
                </a:solidFill>
              </a:rPr>
              <a:t>Given the high-risk nature of construction, concerns about AI reliability and oversight will be especially important.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b="1" lang="en" sz="500">
                <a:solidFill>
                  <a:schemeClr val="dk1"/>
                </a:solidFill>
              </a:rPr>
              <a:t>Regulation and public perception</a:t>
            </a:r>
            <a:br>
              <a:rPr b="1" lang="en" sz="500">
                <a:solidFill>
                  <a:schemeClr val="dk1"/>
                </a:solidFill>
              </a:rPr>
            </a:br>
            <a:endParaRPr b="1" sz="500">
              <a:solidFill>
                <a:schemeClr val="dk1"/>
              </a:solidFill>
            </a:endParaRPr>
          </a:p>
          <a:p>
            <a:pPr indent="-260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○"/>
            </a:pPr>
            <a:r>
              <a:rPr lang="en" sz="500">
                <a:solidFill>
                  <a:schemeClr val="dk1"/>
                </a:solidFill>
              </a:rPr>
              <a:t>As AI becomes more embedded (e.g., smart infrastructure, automated equipment), </a:t>
            </a:r>
            <a:r>
              <a:rPr b="1" lang="en" sz="500">
                <a:solidFill>
                  <a:schemeClr val="dk1"/>
                </a:solidFill>
              </a:rPr>
              <a:t>public concern about safety and ethics</a:t>
            </a:r>
            <a:r>
              <a:rPr lang="en" sz="500">
                <a:solidFill>
                  <a:schemeClr val="dk1"/>
                </a:solidFill>
              </a:rPr>
              <a:t> could influence: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■"/>
            </a:pPr>
            <a:r>
              <a:rPr lang="en" sz="500">
                <a:solidFill>
                  <a:schemeClr val="dk1"/>
                </a:solidFill>
              </a:rPr>
              <a:t>Industry standards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60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■"/>
            </a:pPr>
            <a:r>
              <a:rPr lang="en" sz="500">
                <a:solidFill>
                  <a:schemeClr val="dk1"/>
                </a:solidFill>
              </a:rPr>
              <a:t>Government regulations</a:t>
            </a: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500">
                <a:solidFill>
                  <a:schemeClr val="dk1"/>
                </a:solidFill>
              </a:rPr>
              <a:t>Project approvals</a:t>
            </a:r>
            <a:br>
              <a:rPr lang="en" sz="500">
                <a:solidFill>
                  <a:schemeClr val="dk1"/>
                </a:solidFill>
              </a:rPr>
            </a:br>
            <a:br>
              <a:rPr lang="en" sz="200">
                <a:solidFill>
                  <a:schemeClr val="dk1"/>
                </a:solidFill>
              </a:rPr>
            </a:br>
            <a:endParaRPr sz="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800"/>
              <a:buNone/>
            </a:pPr>
            <a:r>
              <a:t/>
            </a:r>
            <a:endParaRPr b="1" sz="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