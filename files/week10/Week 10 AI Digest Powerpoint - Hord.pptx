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1" roundtripDataSignature="AMtx7miq4+9wgb4pPDHzkHVrw4XjLBb0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uc.edu/news/articles/2026/03/coding-without-code--how-vibe-coding-rewrites-the-rules.html"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2250150" y="1245750"/>
            <a:ext cx="4643700" cy="1326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90"/>
              <a:buNone/>
            </a:pPr>
            <a:r>
              <a:t/>
            </a:r>
            <a:endParaRPr sz="3280"/>
          </a:p>
          <a:p>
            <a:pPr indent="0" lvl="0" marL="0" rtl="0" algn="ctr">
              <a:lnSpc>
                <a:spcPct val="100000"/>
              </a:lnSpc>
              <a:spcBef>
                <a:spcPts val="0"/>
              </a:spcBef>
              <a:spcAft>
                <a:spcPts val="0"/>
              </a:spcAft>
              <a:buSzPts val="990"/>
              <a:buNone/>
            </a:pPr>
            <a:r>
              <a:rPr lang="en" sz="3280"/>
              <a:t>Coding without code: How vibe coding rewrites the rules</a:t>
            </a:r>
            <a:endParaRPr sz="3280"/>
          </a:p>
        </p:txBody>
      </p:sp>
      <p:sp>
        <p:nvSpPr>
          <p:cNvPr id="55" name="Google Shape;55;p1"/>
          <p:cNvSpPr txBox="1"/>
          <p:nvPr>
            <p:ph idx="1" type="subTitle"/>
          </p:nvPr>
        </p:nvSpPr>
        <p:spPr>
          <a:xfrm>
            <a:off x="311700" y="3680350"/>
            <a:ext cx="8520600" cy="7926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ctr">
              <a:lnSpc>
                <a:spcPct val="100000"/>
              </a:lnSpc>
              <a:spcBef>
                <a:spcPts val="0"/>
              </a:spcBef>
              <a:spcAft>
                <a:spcPts val="0"/>
              </a:spcAft>
              <a:buSzPct val="117646"/>
              <a:buNone/>
            </a:pPr>
            <a:r>
              <a:rPr lang="en"/>
              <a:t>Week of March 16th</a:t>
            </a:r>
            <a:endParaRPr/>
          </a:p>
          <a:p>
            <a:pPr indent="0" lvl="0" marL="0" rtl="0" algn="ctr">
              <a:lnSpc>
                <a:spcPct val="100000"/>
              </a:lnSpc>
              <a:spcBef>
                <a:spcPts val="0"/>
              </a:spcBef>
              <a:spcAft>
                <a:spcPts val="0"/>
              </a:spcAft>
              <a:buSzPct val="117646"/>
              <a:buNone/>
            </a:pPr>
            <a:r>
              <a:rPr lang="en"/>
              <a:t>Elias Hord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General Information</a:t>
            </a:r>
            <a:endParaRPr/>
          </a:p>
        </p:txBody>
      </p:sp>
      <p:sp>
        <p:nvSpPr>
          <p:cNvPr id="61" name="Google Shape;61;p2"/>
          <p:cNvSpPr txBox="1"/>
          <p:nvPr>
            <p:ph idx="1" type="body"/>
          </p:nvPr>
        </p:nvSpPr>
        <p:spPr>
          <a:xfrm>
            <a:off x="311700" y="1152475"/>
            <a:ext cx="8727900" cy="12189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SzPct val="133332"/>
              <a:buNone/>
            </a:pPr>
            <a:r>
              <a:rPr lang="en" sz="5400"/>
              <a:t>Article Publication: March 17, 2026</a:t>
            </a:r>
            <a:endParaRPr sz="5400"/>
          </a:p>
          <a:p>
            <a:pPr indent="0" lvl="0" marL="0" rtl="0" algn="l">
              <a:lnSpc>
                <a:spcPct val="115000"/>
              </a:lnSpc>
              <a:spcBef>
                <a:spcPts val="1200"/>
              </a:spcBef>
              <a:spcAft>
                <a:spcPts val="0"/>
              </a:spcAft>
              <a:buSzPct val="133332"/>
              <a:buNone/>
            </a:pPr>
            <a:r>
              <a:t/>
            </a:r>
            <a:endParaRPr sz="5400"/>
          </a:p>
          <a:p>
            <a:pPr indent="0" lvl="0" marL="0" rtl="0" algn="l">
              <a:lnSpc>
                <a:spcPct val="115000"/>
              </a:lnSpc>
              <a:spcBef>
                <a:spcPts val="1200"/>
              </a:spcBef>
              <a:spcAft>
                <a:spcPts val="0"/>
              </a:spcAft>
              <a:buSzPct val="133332"/>
              <a:buNone/>
            </a:pPr>
            <a:r>
              <a:rPr lang="en" sz="5400" u="sng">
                <a:solidFill>
                  <a:schemeClr val="hlink"/>
                </a:solidFill>
                <a:hlinkClick r:id="rId3"/>
              </a:rPr>
              <a:t>https://www.uc.edu/news/articles/2026/03/coding-without-code--how-vibe-coding-rewrites-the-rules.html</a:t>
            </a:r>
            <a:r>
              <a:rPr lang="en" sz="5400"/>
              <a:t> </a:t>
            </a:r>
            <a:endParaRPr sz="5400"/>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pic>
        <p:nvPicPr>
          <p:cNvPr id="62" name="Google Shape;62;p2"/>
          <p:cNvPicPr preferRelativeResize="0"/>
          <p:nvPr/>
        </p:nvPicPr>
        <p:blipFill>
          <a:blip r:embed="rId4">
            <a:alphaModFix/>
          </a:blip>
          <a:stretch>
            <a:fillRect/>
          </a:stretch>
        </p:blipFill>
        <p:spPr>
          <a:xfrm>
            <a:off x="1010775" y="2371375"/>
            <a:ext cx="5200070" cy="2467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Main Findings and Arguments</a:t>
            </a:r>
            <a:endParaRPr/>
          </a:p>
          <a:p>
            <a:pPr indent="0" lvl="0" marL="0" rtl="0" algn="l">
              <a:lnSpc>
                <a:spcPct val="100000"/>
              </a:lnSpc>
              <a:spcBef>
                <a:spcPts val="0"/>
              </a:spcBef>
              <a:spcAft>
                <a:spcPts val="0"/>
              </a:spcAft>
              <a:buSzPct val="111111"/>
              <a:buNone/>
            </a:pPr>
            <a:r>
              <a:t/>
            </a:r>
            <a:endParaRPr/>
          </a:p>
        </p:txBody>
      </p:sp>
      <p:sp>
        <p:nvSpPr>
          <p:cNvPr id="68" name="Google Shape;68;p3"/>
          <p:cNvSpPr txBox="1"/>
          <p:nvPr>
            <p:ph idx="1" type="body"/>
          </p:nvPr>
        </p:nvSpPr>
        <p:spPr>
          <a:xfrm>
            <a:off x="113100" y="1017725"/>
            <a:ext cx="8917800" cy="4053300"/>
          </a:xfrm>
          <a:prstGeom prst="rect">
            <a:avLst/>
          </a:prstGeom>
          <a:noFill/>
          <a:ln>
            <a:noFill/>
          </a:ln>
        </p:spPr>
        <p:txBody>
          <a:bodyPr anchorCtr="0" anchor="t" bIns="91425" lIns="91425" spcFirstLastPara="1" rIns="91425" wrap="square" tIns="91425">
            <a:noAutofit/>
          </a:bodyPr>
          <a:lstStyle/>
          <a:p>
            <a:pPr indent="-285750" lvl="0" marL="457200" rtl="0" algn="l">
              <a:spcBef>
                <a:spcPts val="1200"/>
              </a:spcBef>
              <a:spcAft>
                <a:spcPts val="0"/>
              </a:spcAft>
              <a:buClr>
                <a:schemeClr val="dk1"/>
              </a:buClr>
              <a:buSzPts val="900"/>
              <a:buChar char="●"/>
            </a:pPr>
            <a:r>
              <a:rPr b="1" lang="en" sz="900">
                <a:solidFill>
                  <a:schemeClr val="dk1"/>
                </a:solidFill>
              </a:rPr>
              <a:t>“Vibe coding” = coding with natural language + AI</a:t>
            </a:r>
            <a:br>
              <a:rPr b="1" lang="en" sz="900">
                <a:solidFill>
                  <a:schemeClr val="dk1"/>
                </a:solidFill>
              </a:rPr>
            </a:br>
            <a:r>
              <a:rPr lang="en" sz="900">
                <a:solidFill>
                  <a:schemeClr val="dk1"/>
                </a:solidFill>
              </a:rPr>
              <a:t> The article explains that vibe coding allows users to create software simply by describing what they want in plain English, with AI generating the actual code. This dramatically lowers the barrier to entry for building apps and websites.</a:t>
            </a:r>
            <a:br>
              <a:rPr lang="en" sz="900">
                <a:solidFill>
                  <a:schemeClr val="dk1"/>
                </a:solidFill>
              </a:rPr>
            </a:br>
            <a:endParaRPr sz="900">
              <a:solidFill>
                <a:schemeClr val="dk1"/>
              </a:solidFill>
            </a:endParaRPr>
          </a:p>
          <a:p>
            <a:pPr indent="-285750" lvl="0" marL="457200" rtl="0" algn="l">
              <a:spcBef>
                <a:spcPts val="0"/>
              </a:spcBef>
              <a:spcAft>
                <a:spcPts val="0"/>
              </a:spcAft>
              <a:buClr>
                <a:schemeClr val="dk1"/>
              </a:buClr>
              <a:buSzPts val="900"/>
              <a:buChar char="●"/>
            </a:pPr>
            <a:r>
              <a:rPr b="1" lang="en" sz="900">
                <a:solidFill>
                  <a:schemeClr val="dk1"/>
                </a:solidFill>
              </a:rPr>
              <a:t>Speed and accessibility are the biggest advantages</a:t>
            </a:r>
            <a:br>
              <a:rPr b="1" lang="en" sz="900">
                <a:solidFill>
                  <a:schemeClr val="dk1"/>
                </a:solidFill>
              </a:rPr>
            </a:br>
            <a:r>
              <a:rPr lang="en" sz="900">
                <a:solidFill>
                  <a:schemeClr val="dk1"/>
                </a:solidFill>
              </a:rPr>
              <a:t> Tasks that once took months can now be completed in minutes or days. Even people without programming experience can build functional tools, making software development far more accessible.</a:t>
            </a:r>
            <a:br>
              <a:rPr lang="en" sz="900">
                <a:solidFill>
                  <a:schemeClr val="dk1"/>
                </a:solidFill>
              </a:rPr>
            </a:br>
            <a:endParaRPr sz="900">
              <a:solidFill>
                <a:schemeClr val="dk1"/>
              </a:solidFill>
            </a:endParaRPr>
          </a:p>
          <a:p>
            <a:pPr indent="-285750" lvl="0" marL="457200" rtl="0" algn="l">
              <a:spcBef>
                <a:spcPts val="0"/>
              </a:spcBef>
              <a:spcAft>
                <a:spcPts val="0"/>
              </a:spcAft>
              <a:buClr>
                <a:schemeClr val="dk1"/>
              </a:buClr>
              <a:buSzPts val="900"/>
              <a:buChar char="●"/>
            </a:pPr>
            <a:r>
              <a:rPr b="1" lang="en" sz="900">
                <a:solidFill>
                  <a:schemeClr val="dk1"/>
                </a:solidFill>
              </a:rPr>
              <a:t>Key use cases include automation, prototyping, and reporting</a:t>
            </a:r>
            <a:br>
              <a:rPr b="1" lang="en" sz="900">
                <a:solidFill>
                  <a:schemeClr val="dk1"/>
                </a:solidFill>
              </a:rPr>
            </a:br>
            <a:r>
              <a:rPr lang="en" sz="900">
                <a:solidFill>
                  <a:schemeClr val="dk1"/>
                </a:solidFill>
              </a:rPr>
              <a:t> Common applications highlighted:</a:t>
            </a:r>
            <a:br>
              <a:rPr lang="en" sz="900">
                <a:solidFill>
                  <a:schemeClr val="dk1"/>
                </a:solidFill>
              </a:rPr>
            </a:br>
            <a:endParaRPr sz="900">
              <a:solidFill>
                <a:schemeClr val="dk1"/>
              </a:solidFill>
            </a:endParaRPr>
          </a:p>
          <a:p>
            <a:pPr indent="-285750" lvl="1" marL="914400" rtl="0" algn="l">
              <a:spcBef>
                <a:spcPts val="0"/>
              </a:spcBef>
              <a:spcAft>
                <a:spcPts val="0"/>
              </a:spcAft>
              <a:buClr>
                <a:schemeClr val="dk1"/>
              </a:buClr>
              <a:buSzPts val="900"/>
              <a:buChar char="○"/>
            </a:pPr>
            <a:r>
              <a:rPr lang="en" sz="900">
                <a:solidFill>
                  <a:schemeClr val="dk1"/>
                </a:solidFill>
              </a:rPr>
              <a:t>Automating repetitive workflows</a:t>
            </a:r>
            <a:br>
              <a:rPr lang="en" sz="900">
                <a:solidFill>
                  <a:schemeClr val="dk1"/>
                </a:solidFill>
              </a:rPr>
            </a:br>
            <a:endParaRPr sz="900">
              <a:solidFill>
                <a:schemeClr val="dk1"/>
              </a:solidFill>
            </a:endParaRPr>
          </a:p>
          <a:p>
            <a:pPr indent="-285750" lvl="1" marL="914400" rtl="0" algn="l">
              <a:spcBef>
                <a:spcPts val="0"/>
              </a:spcBef>
              <a:spcAft>
                <a:spcPts val="0"/>
              </a:spcAft>
              <a:buClr>
                <a:schemeClr val="dk1"/>
              </a:buClr>
              <a:buSzPts val="900"/>
              <a:buChar char="○"/>
            </a:pPr>
            <a:r>
              <a:rPr lang="en" sz="900">
                <a:solidFill>
                  <a:schemeClr val="dk1"/>
                </a:solidFill>
              </a:rPr>
              <a:t>Building websites/apps quickly</a:t>
            </a:r>
            <a:br>
              <a:rPr lang="en" sz="900">
                <a:solidFill>
                  <a:schemeClr val="dk1"/>
                </a:solidFill>
              </a:rPr>
            </a:br>
            <a:endParaRPr sz="900">
              <a:solidFill>
                <a:schemeClr val="dk1"/>
              </a:solidFill>
            </a:endParaRPr>
          </a:p>
          <a:p>
            <a:pPr indent="-285750" lvl="1" marL="914400" rtl="0" algn="l">
              <a:spcBef>
                <a:spcPts val="0"/>
              </a:spcBef>
              <a:spcAft>
                <a:spcPts val="0"/>
              </a:spcAft>
              <a:buClr>
                <a:schemeClr val="dk1"/>
              </a:buClr>
              <a:buSzPts val="900"/>
              <a:buChar char="○"/>
            </a:pPr>
            <a:r>
              <a:rPr lang="en" sz="900">
                <a:solidFill>
                  <a:schemeClr val="dk1"/>
                </a:solidFill>
              </a:rPr>
              <a:t>Generating reports</a:t>
            </a:r>
            <a:br>
              <a:rPr lang="en" sz="900">
                <a:solidFill>
                  <a:schemeClr val="dk1"/>
                </a:solidFill>
              </a:rPr>
            </a:br>
            <a:endParaRPr sz="900">
              <a:solidFill>
                <a:schemeClr val="dk1"/>
              </a:solidFill>
            </a:endParaRPr>
          </a:p>
          <a:p>
            <a:pPr indent="-285750" lvl="1" marL="914400" rtl="0" algn="l">
              <a:spcBef>
                <a:spcPts val="0"/>
              </a:spcBef>
              <a:spcAft>
                <a:spcPts val="0"/>
              </a:spcAft>
              <a:buClr>
                <a:schemeClr val="dk1"/>
              </a:buClr>
              <a:buSzPts val="900"/>
              <a:buChar char="○"/>
            </a:pPr>
            <a:r>
              <a:rPr lang="en" sz="900">
                <a:solidFill>
                  <a:schemeClr val="dk1"/>
                </a:solidFill>
              </a:rPr>
              <a:t>Rapid prototyping of ideas</a:t>
            </a:r>
            <a:br>
              <a:rPr lang="en" sz="900">
                <a:solidFill>
                  <a:schemeClr val="dk1"/>
                </a:solidFill>
              </a:rPr>
            </a:br>
            <a:endParaRPr sz="900">
              <a:solidFill>
                <a:schemeClr val="dk1"/>
              </a:solidFill>
            </a:endParaRPr>
          </a:p>
          <a:p>
            <a:pPr indent="-285750" lvl="0" marL="457200" rtl="0" algn="l">
              <a:spcBef>
                <a:spcPts val="0"/>
              </a:spcBef>
              <a:spcAft>
                <a:spcPts val="0"/>
              </a:spcAft>
              <a:buClr>
                <a:schemeClr val="dk1"/>
              </a:buClr>
              <a:buSzPts val="900"/>
              <a:buChar char="●"/>
            </a:pPr>
            <a:r>
              <a:rPr b="1" lang="en" sz="900">
                <a:solidFill>
                  <a:schemeClr val="dk1"/>
                </a:solidFill>
              </a:rPr>
              <a:t>AI is a tool—not a replacement for expertise</a:t>
            </a:r>
            <a:br>
              <a:rPr b="1" lang="en" sz="900">
                <a:solidFill>
                  <a:schemeClr val="dk1"/>
                </a:solidFill>
              </a:rPr>
            </a:br>
            <a:r>
              <a:rPr lang="en" sz="900">
                <a:solidFill>
                  <a:schemeClr val="dk1"/>
                </a:solidFill>
              </a:rPr>
              <a:t> The article emphasizes that vibe coding should </a:t>
            </a:r>
            <a:r>
              <a:rPr b="1" lang="en" sz="900">
                <a:solidFill>
                  <a:schemeClr val="dk1"/>
                </a:solidFill>
              </a:rPr>
              <a:t>augment human teams</a:t>
            </a:r>
            <a:r>
              <a:rPr lang="en" sz="900">
                <a:solidFill>
                  <a:schemeClr val="dk1"/>
                </a:solidFill>
              </a:rPr>
              <a:t>, not replace skilled developers. Human oversight is still needed for quality, security, and scalability</a:t>
            </a:r>
            <a:endParaRPr sz="900">
              <a:solidFill>
                <a:schemeClr val="dk1"/>
              </a:solidFill>
            </a:endParaRPr>
          </a:p>
          <a:p>
            <a:pPr indent="0" lvl="0" marL="0" rtl="0" algn="l">
              <a:lnSpc>
                <a:spcPct val="100000"/>
              </a:lnSpc>
              <a:spcBef>
                <a:spcPts val="1200"/>
              </a:spcBef>
              <a:spcAft>
                <a:spcPts val="1200"/>
              </a:spcAft>
              <a:buClr>
                <a:srgbClr val="000000"/>
              </a:buClr>
              <a:buSzPts val="935"/>
              <a:buFont typeface="Arial"/>
              <a:buNone/>
            </a:pPr>
            <a:r>
              <a:t/>
            </a:r>
            <a:endParaRPr b="1" sz="835">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Broader Implications for Society</a:t>
            </a:r>
            <a:endParaRPr/>
          </a:p>
        </p:txBody>
      </p:sp>
      <p:sp>
        <p:nvSpPr>
          <p:cNvPr id="74" name="Google Shape;74;p4"/>
          <p:cNvSpPr txBox="1"/>
          <p:nvPr>
            <p:ph idx="1" type="body"/>
          </p:nvPr>
        </p:nvSpPr>
        <p:spPr>
          <a:xfrm>
            <a:off x="311700" y="1017725"/>
            <a:ext cx="8674500" cy="3396000"/>
          </a:xfrm>
          <a:prstGeom prst="rect">
            <a:avLst/>
          </a:prstGeom>
          <a:noFill/>
          <a:ln>
            <a:noFill/>
          </a:ln>
        </p:spPr>
        <p:txBody>
          <a:bodyPr anchorCtr="0" anchor="t" bIns="91425" lIns="91425" spcFirstLastPara="1" rIns="91425" wrap="square" tIns="91425">
            <a:normAutofit fontScale="92500" lnSpcReduction="20000"/>
          </a:bodyPr>
          <a:lstStyle/>
          <a:p>
            <a:pPr indent="-293211" lvl="0" marL="457200" rtl="0" algn="l">
              <a:spcBef>
                <a:spcPts val="1200"/>
              </a:spcBef>
              <a:spcAft>
                <a:spcPts val="0"/>
              </a:spcAft>
              <a:buClr>
                <a:schemeClr val="dk1"/>
              </a:buClr>
              <a:buSzPct val="100000"/>
              <a:buChar char="●"/>
            </a:pPr>
            <a:r>
              <a:rPr b="1" lang="en" sz="1100">
                <a:solidFill>
                  <a:schemeClr val="dk1"/>
                </a:solidFill>
              </a:rPr>
              <a:t>Democratization of technology</a:t>
            </a:r>
            <a:br>
              <a:rPr b="1" lang="en" sz="1100">
                <a:solidFill>
                  <a:schemeClr val="dk1"/>
                </a:solidFill>
              </a:rPr>
            </a:br>
            <a:r>
              <a:rPr lang="en" sz="1100">
                <a:solidFill>
                  <a:schemeClr val="dk1"/>
                </a:solidFill>
              </a:rPr>
              <a:t> Vibe coding allows non-programmers to create software, shifting power from specialized developers to a broader population. This could lead to more innovation from diverse groups.</a:t>
            </a:r>
            <a:br>
              <a:rPr lang="en" sz="1100">
                <a:solidFill>
                  <a:schemeClr val="dk1"/>
                </a:solidFill>
              </a:rPr>
            </a:br>
            <a:endParaRPr sz="1100">
              <a:solidFill>
                <a:schemeClr val="dk1"/>
              </a:solidFill>
            </a:endParaRPr>
          </a:p>
          <a:p>
            <a:pPr indent="-293211" lvl="0" marL="457200" rtl="0" algn="l">
              <a:spcBef>
                <a:spcPts val="0"/>
              </a:spcBef>
              <a:spcAft>
                <a:spcPts val="0"/>
              </a:spcAft>
              <a:buClr>
                <a:schemeClr val="dk1"/>
              </a:buClr>
              <a:buSzPct val="100000"/>
              <a:buChar char="●"/>
            </a:pPr>
            <a:r>
              <a:rPr b="1" lang="en" sz="1100">
                <a:solidFill>
                  <a:schemeClr val="dk1"/>
                </a:solidFill>
              </a:rPr>
              <a:t>Shift in required skills</a:t>
            </a:r>
            <a:br>
              <a:rPr b="1" lang="en" sz="1100">
                <a:solidFill>
                  <a:schemeClr val="dk1"/>
                </a:solidFill>
              </a:rPr>
            </a:br>
            <a:r>
              <a:rPr lang="en" sz="1100">
                <a:solidFill>
                  <a:schemeClr val="dk1"/>
                </a:solidFill>
              </a:rPr>
              <a:t> The focus moves from writing code to:</a:t>
            </a:r>
            <a:br>
              <a:rPr lang="en" sz="1100">
                <a:solidFill>
                  <a:schemeClr val="dk1"/>
                </a:solidFill>
              </a:rPr>
            </a:br>
            <a:endParaRPr sz="1100">
              <a:solidFill>
                <a:schemeClr val="dk1"/>
              </a:solidFill>
            </a:endParaRPr>
          </a:p>
          <a:p>
            <a:pPr indent="-293211" lvl="1" marL="914400" rtl="0" algn="l">
              <a:spcBef>
                <a:spcPts val="0"/>
              </a:spcBef>
              <a:spcAft>
                <a:spcPts val="0"/>
              </a:spcAft>
              <a:buClr>
                <a:schemeClr val="dk1"/>
              </a:buClr>
              <a:buSzPct val="100000"/>
              <a:buChar char="○"/>
            </a:pPr>
            <a:r>
              <a:rPr lang="en" sz="1100">
                <a:solidFill>
                  <a:schemeClr val="dk1"/>
                </a:solidFill>
              </a:rPr>
              <a:t>Problem framing</a:t>
            </a:r>
            <a:br>
              <a:rPr lang="en" sz="1100">
                <a:solidFill>
                  <a:schemeClr val="dk1"/>
                </a:solidFill>
              </a:rPr>
            </a:br>
            <a:endParaRPr sz="1100">
              <a:solidFill>
                <a:schemeClr val="dk1"/>
              </a:solidFill>
            </a:endParaRPr>
          </a:p>
          <a:p>
            <a:pPr indent="-293211" lvl="1" marL="914400" rtl="0" algn="l">
              <a:spcBef>
                <a:spcPts val="0"/>
              </a:spcBef>
              <a:spcAft>
                <a:spcPts val="0"/>
              </a:spcAft>
              <a:buClr>
                <a:schemeClr val="dk1"/>
              </a:buClr>
              <a:buSzPct val="100000"/>
              <a:buChar char="○"/>
            </a:pPr>
            <a:r>
              <a:rPr lang="en" sz="1100">
                <a:solidFill>
                  <a:schemeClr val="dk1"/>
                </a:solidFill>
              </a:rPr>
              <a:t>Prompting AI effectively</a:t>
            </a:r>
            <a:br>
              <a:rPr lang="en" sz="1100">
                <a:solidFill>
                  <a:schemeClr val="dk1"/>
                </a:solidFill>
              </a:rPr>
            </a:br>
            <a:endParaRPr sz="1100">
              <a:solidFill>
                <a:schemeClr val="dk1"/>
              </a:solidFill>
            </a:endParaRPr>
          </a:p>
          <a:p>
            <a:pPr indent="-293211" lvl="1" marL="914400" rtl="0" algn="l">
              <a:spcBef>
                <a:spcPts val="0"/>
              </a:spcBef>
              <a:spcAft>
                <a:spcPts val="0"/>
              </a:spcAft>
              <a:buClr>
                <a:schemeClr val="dk1"/>
              </a:buClr>
              <a:buSzPct val="100000"/>
              <a:buChar char="○"/>
            </a:pPr>
            <a:r>
              <a:rPr lang="en" sz="1100">
                <a:solidFill>
                  <a:schemeClr val="dk1"/>
                </a:solidFill>
              </a:rPr>
              <a:t>Evaluating outputs</a:t>
            </a:r>
            <a:br>
              <a:rPr lang="en" sz="1100">
                <a:solidFill>
                  <a:schemeClr val="dk1"/>
                </a:solidFill>
              </a:rPr>
            </a:br>
            <a:r>
              <a:rPr lang="en" sz="1100">
                <a:solidFill>
                  <a:schemeClr val="dk1"/>
                </a:solidFill>
              </a:rPr>
              <a:t> This represents a major shift in what “technical literacy” means.</a:t>
            </a:r>
            <a:br>
              <a:rPr lang="en" sz="1100">
                <a:solidFill>
                  <a:schemeClr val="dk1"/>
                </a:solidFill>
              </a:rPr>
            </a:br>
            <a:endParaRPr sz="1100">
              <a:solidFill>
                <a:schemeClr val="dk1"/>
              </a:solidFill>
            </a:endParaRPr>
          </a:p>
          <a:p>
            <a:pPr indent="-293211" lvl="0" marL="457200" rtl="0" algn="l">
              <a:spcBef>
                <a:spcPts val="0"/>
              </a:spcBef>
              <a:spcAft>
                <a:spcPts val="0"/>
              </a:spcAft>
              <a:buClr>
                <a:schemeClr val="dk1"/>
              </a:buClr>
              <a:buSzPct val="100000"/>
              <a:buChar char="●"/>
            </a:pPr>
            <a:r>
              <a:rPr b="1" lang="en" sz="1100">
                <a:solidFill>
                  <a:schemeClr val="dk1"/>
                </a:solidFill>
              </a:rPr>
              <a:t>Faster innovation cycles</a:t>
            </a:r>
            <a:br>
              <a:rPr b="1" lang="en" sz="1100">
                <a:solidFill>
                  <a:schemeClr val="dk1"/>
                </a:solidFill>
              </a:rPr>
            </a:br>
            <a:r>
              <a:rPr lang="en" sz="1100">
                <a:solidFill>
                  <a:schemeClr val="dk1"/>
                </a:solidFill>
              </a:rPr>
              <a:t> Businesses and individuals can test ideas quickly, potentially accelerating entrepreneurship and digital transformation across industries.</a:t>
            </a:r>
            <a:br>
              <a:rPr lang="en" sz="1100">
                <a:solidFill>
                  <a:schemeClr val="dk1"/>
                </a:solidFill>
              </a:rPr>
            </a:br>
            <a:endParaRPr sz="1100">
              <a:solidFill>
                <a:schemeClr val="dk1"/>
              </a:solidFill>
            </a:endParaRPr>
          </a:p>
          <a:p>
            <a:pPr indent="-293211" lvl="0" marL="457200" rtl="0" algn="l">
              <a:spcBef>
                <a:spcPts val="0"/>
              </a:spcBef>
              <a:spcAft>
                <a:spcPts val="0"/>
              </a:spcAft>
              <a:buClr>
                <a:schemeClr val="dk1"/>
              </a:buClr>
              <a:buSzPct val="100000"/>
              <a:buChar char="●"/>
            </a:pPr>
            <a:r>
              <a:rPr b="1" lang="en" sz="1100">
                <a:solidFill>
                  <a:schemeClr val="dk1"/>
                </a:solidFill>
              </a:rPr>
              <a:t>New risks (security + reliability)</a:t>
            </a:r>
            <a:br>
              <a:rPr b="1" lang="en" sz="1100">
                <a:solidFill>
                  <a:schemeClr val="dk1"/>
                </a:solidFill>
              </a:rPr>
            </a:br>
            <a:r>
              <a:rPr lang="en" sz="1100">
                <a:solidFill>
                  <a:schemeClr val="dk1"/>
                </a:solidFill>
              </a:rPr>
              <a:t> The article hints that entering sensitive data into AI tools may expose vulnerabilities, and AI-generated code may not always be secure or robust—raising concerns about misuse and quality control.</a:t>
            </a:r>
            <a:br>
              <a:rPr lang="en" sz="1100">
                <a:solidFill>
                  <a:schemeClr val="dk1"/>
                </a:solidFill>
              </a:rPr>
            </a:br>
            <a:endParaRPr sz="125">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320"/>
              <a:t>Relevance or Potential Influence on the Construction Industry</a:t>
            </a:r>
            <a:endParaRPr sz="2320"/>
          </a:p>
        </p:txBody>
      </p:sp>
      <p:sp>
        <p:nvSpPr>
          <p:cNvPr id="80" name="Google Shape;80;p5"/>
          <p:cNvSpPr txBox="1"/>
          <p:nvPr>
            <p:ph idx="1" type="body"/>
          </p:nvPr>
        </p:nvSpPr>
        <p:spPr>
          <a:xfrm>
            <a:off x="108875" y="1017725"/>
            <a:ext cx="8520600" cy="3674700"/>
          </a:xfrm>
          <a:prstGeom prst="rect">
            <a:avLst/>
          </a:prstGeom>
          <a:noFill/>
          <a:ln>
            <a:noFill/>
          </a:ln>
        </p:spPr>
        <p:txBody>
          <a:bodyPr anchorCtr="0" anchor="t" bIns="91425" lIns="91425" spcFirstLastPara="1" rIns="91425" wrap="square" tIns="91425">
            <a:noAutofit/>
          </a:bodyPr>
          <a:lstStyle/>
          <a:p>
            <a:pPr indent="-279400" lvl="0" marL="457200" rtl="0" algn="l">
              <a:spcBef>
                <a:spcPts val="1200"/>
              </a:spcBef>
              <a:spcAft>
                <a:spcPts val="0"/>
              </a:spcAft>
              <a:buClr>
                <a:schemeClr val="dk1"/>
              </a:buClr>
              <a:buSzPts val="800"/>
              <a:buChar char="●"/>
            </a:pPr>
            <a:r>
              <a:rPr b="1" lang="en" sz="800">
                <a:solidFill>
                  <a:schemeClr val="dk1"/>
                </a:solidFill>
              </a:rPr>
              <a:t>Automation of project workflows</a:t>
            </a:r>
            <a:br>
              <a:rPr b="1" lang="en" sz="800">
                <a:solidFill>
                  <a:schemeClr val="dk1"/>
                </a:solidFill>
              </a:rPr>
            </a:br>
            <a:r>
              <a:rPr lang="en" sz="800">
                <a:solidFill>
                  <a:schemeClr val="dk1"/>
                </a:solidFill>
              </a:rPr>
              <a:t> Construction firms could use vibe coding to:</a:t>
            </a:r>
            <a:br>
              <a:rPr lang="en" sz="800">
                <a:solidFill>
                  <a:schemeClr val="dk1"/>
                </a:solidFill>
              </a:rPr>
            </a:br>
            <a:endParaRPr sz="800">
              <a:solidFill>
                <a:schemeClr val="dk1"/>
              </a:solidFill>
            </a:endParaRPr>
          </a:p>
          <a:p>
            <a:pPr indent="-279400" lvl="1" marL="914400" rtl="0" algn="l">
              <a:spcBef>
                <a:spcPts val="0"/>
              </a:spcBef>
              <a:spcAft>
                <a:spcPts val="0"/>
              </a:spcAft>
              <a:buClr>
                <a:schemeClr val="dk1"/>
              </a:buClr>
              <a:buSzPts val="800"/>
              <a:buChar char="○"/>
            </a:pPr>
            <a:r>
              <a:rPr lang="en" sz="800">
                <a:solidFill>
                  <a:schemeClr val="dk1"/>
                </a:solidFill>
              </a:rPr>
              <a:t>Automate reporting (progress, budgets, safety logs)</a:t>
            </a:r>
            <a:br>
              <a:rPr lang="en" sz="800">
                <a:solidFill>
                  <a:schemeClr val="dk1"/>
                </a:solidFill>
              </a:rPr>
            </a:br>
            <a:endParaRPr sz="800">
              <a:solidFill>
                <a:schemeClr val="dk1"/>
              </a:solidFill>
            </a:endParaRPr>
          </a:p>
          <a:p>
            <a:pPr indent="-279400" lvl="1" marL="914400" rtl="0" algn="l">
              <a:spcBef>
                <a:spcPts val="0"/>
              </a:spcBef>
              <a:spcAft>
                <a:spcPts val="0"/>
              </a:spcAft>
              <a:buClr>
                <a:schemeClr val="dk1"/>
              </a:buClr>
              <a:buSzPts val="800"/>
              <a:buChar char="○"/>
            </a:pPr>
            <a:r>
              <a:rPr lang="en" sz="800">
                <a:solidFill>
                  <a:schemeClr val="dk1"/>
                </a:solidFill>
              </a:rPr>
              <a:t>Streamline documentation processes</a:t>
            </a:r>
            <a:br>
              <a:rPr lang="en" sz="800">
                <a:solidFill>
                  <a:schemeClr val="dk1"/>
                </a:solidFill>
              </a:rPr>
            </a:br>
            <a:r>
              <a:rPr lang="en" sz="800">
                <a:solidFill>
                  <a:schemeClr val="dk1"/>
                </a:solidFill>
              </a:rPr>
              <a:t> This reduces administrative workload and improves efficiency.</a:t>
            </a:r>
            <a:br>
              <a:rPr lang="en" sz="800">
                <a:solidFill>
                  <a:schemeClr val="dk1"/>
                </a:solidFill>
              </a:rPr>
            </a:br>
            <a:endParaRPr sz="800">
              <a:solidFill>
                <a:schemeClr val="dk1"/>
              </a:solidFill>
            </a:endParaRPr>
          </a:p>
          <a:p>
            <a:pPr indent="-279400" lvl="0" marL="457200" rtl="0" algn="l">
              <a:spcBef>
                <a:spcPts val="0"/>
              </a:spcBef>
              <a:spcAft>
                <a:spcPts val="0"/>
              </a:spcAft>
              <a:buClr>
                <a:schemeClr val="dk1"/>
              </a:buClr>
              <a:buSzPts val="800"/>
              <a:buChar char="●"/>
            </a:pPr>
            <a:r>
              <a:rPr b="1" lang="en" sz="800">
                <a:solidFill>
                  <a:schemeClr val="dk1"/>
                </a:solidFill>
              </a:rPr>
              <a:t>Custom tools without large IT budgets</a:t>
            </a:r>
            <a:br>
              <a:rPr b="1" lang="en" sz="800">
                <a:solidFill>
                  <a:schemeClr val="dk1"/>
                </a:solidFill>
              </a:rPr>
            </a:br>
            <a:r>
              <a:rPr lang="en" sz="800">
                <a:solidFill>
                  <a:schemeClr val="dk1"/>
                </a:solidFill>
              </a:rPr>
              <a:t> Instead of buying expensive software, teams could quickly build:</a:t>
            </a:r>
            <a:br>
              <a:rPr lang="en" sz="800">
                <a:solidFill>
                  <a:schemeClr val="dk1"/>
                </a:solidFill>
              </a:rPr>
            </a:br>
            <a:endParaRPr sz="800">
              <a:solidFill>
                <a:schemeClr val="dk1"/>
              </a:solidFill>
            </a:endParaRPr>
          </a:p>
          <a:p>
            <a:pPr indent="-279400" lvl="1" marL="914400" rtl="0" algn="l">
              <a:spcBef>
                <a:spcPts val="0"/>
              </a:spcBef>
              <a:spcAft>
                <a:spcPts val="0"/>
              </a:spcAft>
              <a:buClr>
                <a:schemeClr val="dk1"/>
              </a:buClr>
              <a:buSzPts val="800"/>
              <a:buChar char="○"/>
            </a:pPr>
            <a:r>
              <a:rPr lang="en" sz="800">
                <a:solidFill>
                  <a:schemeClr val="dk1"/>
                </a:solidFill>
              </a:rPr>
              <a:t>Scheduling tools</a:t>
            </a:r>
            <a:br>
              <a:rPr lang="en" sz="800">
                <a:solidFill>
                  <a:schemeClr val="dk1"/>
                </a:solidFill>
              </a:rPr>
            </a:br>
            <a:endParaRPr sz="800">
              <a:solidFill>
                <a:schemeClr val="dk1"/>
              </a:solidFill>
            </a:endParaRPr>
          </a:p>
          <a:p>
            <a:pPr indent="-279400" lvl="1" marL="914400" rtl="0" algn="l">
              <a:spcBef>
                <a:spcPts val="0"/>
              </a:spcBef>
              <a:spcAft>
                <a:spcPts val="0"/>
              </a:spcAft>
              <a:buClr>
                <a:schemeClr val="dk1"/>
              </a:buClr>
              <a:buSzPts val="800"/>
              <a:buChar char="○"/>
            </a:pPr>
            <a:r>
              <a:rPr lang="en" sz="800">
                <a:solidFill>
                  <a:schemeClr val="dk1"/>
                </a:solidFill>
              </a:rPr>
              <a:t>Cost tracking dashboards</a:t>
            </a:r>
            <a:br>
              <a:rPr lang="en" sz="800">
                <a:solidFill>
                  <a:schemeClr val="dk1"/>
                </a:solidFill>
              </a:rPr>
            </a:br>
            <a:endParaRPr sz="800">
              <a:solidFill>
                <a:schemeClr val="dk1"/>
              </a:solidFill>
            </a:endParaRPr>
          </a:p>
          <a:p>
            <a:pPr indent="-279400" lvl="1" marL="914400" rtl="0" algn="l">
              <a:spcBef>
                <a:spcPts val="0"/>
              </a:spcBef>
              <a:spcAft>
                <a:spcPts val="0"/>
              </a:spcAft>
              <a:buClr>
                <a:schemeClr val="dk1"/>
              </a:buClr>
              <a:buSzPts val="800"/>
              <a:buChar char="○"/>
            </a:pPr>
            <a:r>
              <a:rPr lang="en" sz="800">
                <a:solidFill>
                  <a:schemeClr val="dk1"/>
                </a:solidFill>
              </a:rPr>
              <a:t>Site management apps</a:t>
            </a:r>
            <a:br>
              <a:rPr lang="en" sz="800">
                <a:solidFill>
                  <a:schemeClr val="dk1"/>
                </a:solidFill>
              </a:rPr>
            </a:br>
            <a:r>
              <a:rPr lang="en" sz="800">
                <a:solidFill>
                  <a:schemeClr val="dk1"/>
                </a:solidFill>
              </a:rPr>
              <a:t> tailored to specific projects.</a:t>
            </a:r>
            <a:br>
              <a:rPr lang="en" sz="800">
                <a:solidFill>
                  <a:schemeClr val="dk1"/>
                </a:solidFill>
              </a:rPr>
            </a:br>
            <a:endParaRPr sz="800">
              <a:solidFill>
                <a:schemeClr val="dk1"/>
              </a:solidFill>
            </a:endParaRPr>
          </a:p>
          <a:p>
            <a:pPr indent="-279400" lvl="0" marL="457200" rtl="0" algn="l">
              <a:spcBef>
                <a:spcPts val="0"/>
              </a:spcBef>
              <a:spcAft>
                <a:spcPts val="0"/>
              </a:spcAft>
              <a:buClr>
                <a:schemeClr val="dk1"/>
              </a:buClr>
              <a:buSzPts val="800"/>
              <a:buChar char="●"/>
            </a:pPr>
            <a:r>
              <a:rPr b="1" lang="en" sz="800">
                <a:solidFill>
                  <a:schemeClr val="dk1"/>
                </a:solidFill>
              </a:rPr>
              <a:t>Rapid prototyping for project planning</a:t>
            </a:r>
            <a:br>
              <a:rPr b="1" lang="en" sz="800">
                <a:solidFill>
                  <a:schemeClr val="dk1"/>
                </a:solidFill>
              </a:rPr>
            </a:br>
            <a:r>
              <a:rPr lang="en" sz="800">
                <a:solidFill>
                  <a:schemeClr val="dk1"/>
                </a:solidFill>
              </a:rPr>
              <a:t> Teams could quickly test digital solutions (e.g., dashboards, simulations) before full implementation, improving decision-making.</a:t>
            </a:r>
            <a:br>
              <a:rPr lang="en" sz="800">
                <a:solidFill>
                  <a:schemeClr val="dk1"/>
                </a:solidFill>
              </a:rPr>
            </a:br>
            <a:endParaRPr sz="800">
              <a:solidFill>
                <a:schemeClr val="dk1"/>
              </a:solidFill>
            </a:endParaRPr>
          </a:p>
          <a:p>
            <a:pPr indent="-279400" lvl="0" marL="457200" rtl="0" algn="l">
              <a:spcBef>
                <a:spcPts val="0"/>
              </a:spcBef>
              <a:spcAft>
                <a:spcPts val="0"/>
              </a:spcAft>
              <a:buClr>
                <a:schemeClr val="dk1"/>
              </a:buClr>
              <a:buSzPts val="800"/>
              <a:buChar char="●"/>
            </a:pPr>
            <a:r>
              <a:rPr b="1" lang="en" sz="800">
                <a:solidFill>
                  <a:schemeClr val="dk1"/>
                </a:solidFill>
              </a:rPr>
              <a:t>Lower barrier for innovation in the field</a:t>
            </a:r>
            <a:br>
              <a:rPr b="1" lang="en" sz="800">
                <a:solidFill>
                  <a:schemeClr val="dk1"/>
                </a:solidFill>
              </a:rPr>
            </a:br>
            <a:r>
              <a:rPr lang="en" sz="800">
                <a:solidFill>
                  <a:schemeClr val="dk1"/>
                </a:solidFill>
              </a:rPr>
              <a:t> Non-technical professionals (project managers, engineers) could directly create solutions, reducing reliance on specialized developers.</a:t>
            </a:r>
            <a:br>
              <a:rPr lang="en" sz="800">
                <a:solidFill>
                  <a:schemeClr val="dk1"/>
                </a:solidFill>
              </a:rPr>
            </a:br>
            <a:endParaRPr sz="800">
              <a:solidFill>
                <a:schemeClr val="dk1"/>
              </a:solidFill>
            </a:endParaRPr>
          </a:p>
          <a:p>
            <a:pPr indent="-279400" lvl="0" marL="457200" rtl="0" algn="l">
              <a:spcBef>
                <a:spcPts val="0"/>
              </a:spcBef>
              <a:spcAft>
                <a:spcPts val="0"/>
              </a:spcAft>
              <a:buClr>
                <a:schemeClr val="dk1"/>
              </a:buClr>
              <a:buSzPts val="800"/>
              <a:buChar char="●"/>
            </a:pPr>
            <a:r>
              <a:rPr b="1" lang="en" sz="800">
                <a:solidFill>
                  <a:schemeClr val="dk1"/>
                </a:solidFill>
              </a:rPr>
              <a:t>Caution: quality and safety concerns</a:t>
            </a:r>
            <a:br>
              <a:rPr b="1" lang="en" sz="800">
                <a:solidFill>
                  <a:schemeClr val="dk1"/>
                </a:solidFill>
              </a:rPr>
            </a:br>
            <a:r>
              <a:rPr lang="en" sz="800">
                <a:solidFill>
                  <a:schemeClr val="dk1"/>
                </a:solidFill>
              </a:rPr>
              <a:t> In construction—where mistakes are costly—AI-generated tools must be carefully validated to avoid errors in planning, budgeting, or safety systems.</a:t>
            </a:r>
            <a:br>
              <a:rPr lang="en" sz="800">
                <a:solidFill>
                  <a:schemeClr val="dk1"/>
                </a:solidFill>
              </a:rPr>
            </a:br>
            <a:endParaRPr sz="800">
              <a:solidFill>
                <a:schemeClr val="dk1"/>
              </a:solidFill>
            </a:endParaRPr>
          </a:p>
          <a:p>
            <a:pPr indent="0" lvl="0" marL="0" rtl="0" algn="l">
              <a:lnSpc>
                <a:spcPct val="115000"/>
              </a:lnSpc>
              <a:spcBef>
                <a:spcPts val="1200"/>
              </a:spcBef>
              <a:spcAft>
                <a:spcPts val="0"/>
              </a:spcAft>
              <a:buSzPts val="1800"/>
              <a:buNone/>
            </a:pPr>
            <a:r>
              <a:t/>
            </a:r>
            <a:endParaRPr sz="300">
              <a:solidFill>
                <a:schemeClr val="dk1"/>
              </a:solidFill>
            </a:endParaRPr>
          </a:p>
          <a:p>
            <a:pPr indent="0" lvl="0" marL="0" rtl="0" algn="l">
              <a:lnSpc>
                <a:spcPct val="115000"/>
              </a:lnSpc>
              <a:spcBef>
                <a:spcPts val="1400"/>
              </a:spcBef>
              <a:spcAft>
                <a:spcPts val="400"/>
              </a:spcAft>
              <a:buSzPts val="1800"/>
              <a:buNone/>
            </a:pPr>
            <a:r>
              <a:t/>
            </a:r>
            <a:endParaRPr b="1" sz="3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