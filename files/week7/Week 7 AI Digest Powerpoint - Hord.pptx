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901de0f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901de0f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901de0f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f901de0f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01de0f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f901de0f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901de0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901de0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901de0f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f901de0f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df777fb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9df777fb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9df777f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9df777f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dpi.com/2075-5309/16/4/846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1325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Artificial Intelligence and Building Information Modelling for Sustainable Construction Project Management and Digitalization in Construction</a:t>
            </a:r>
            <a:endParaRPr sz="328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of February 23th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Article Publication: February</a:t>
            </a:r>
            <a:r>
              <a:rPr lang="en" sz="5400"/>
              <a:t> 20, 2026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https://www.mdpi.com/2075-5309/16/4/846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7325" y="2332450"/>
            <a:ext cx="5596277" cy="265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1.1 Core Argument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study argues that integrating </a:t>
            </a:r>
            <a:r>
              <a:rPr b="1" lang="en" sz="600">
                <a:solidFill>
                  <a:schemeClr val="dk1"/>
                </a:solidFill>
              </a:rPr>
              <a:t>Building Information Modelling (BIM)</a:t>
            </a:r>
            <a:r>
              <a:rPr lang="en" sz="600">
                <a:solidFill>
                  <a:schemeClr val="dk1"/>
                </a:solidFill>
              </a:rPr>
              <a:t> and </a:t>
            </a:r>
            <a:r>
              <a:rPr b="1" lang="en" sz="600">
                <a:solidFill>
                  <a:schemeClr val="dk1"/>
                </a:solidFill>
              </a:rPr>
              <a:t>Artificial Intelligence (AI)</a:t>
            </a:r>
            <a:r>
              <a:rPr lang="en" sz="600">
                <a:solidFill>
                  <a:schemeClr val="dk1"/>
                </a:solidFill>
              </a:rPr>
              <a:t> significantly enhances sustainability-oriented planning in construction—particularly in cost, schedule, and resource optimization. However, their effectiveness depends on organizational readiness and skilled human oversight.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aut</a:t>
            </a:r>
            <a:r>
              <a:rPr lang="en" sz="600">
                <a:solidFill>
                  <a:schemeClr val="dk1"/>
                </a:solidFill>
              </a:rPr>
              <a:t>h</a:t>
            </a:r>
            <a:r>
              <a:rPr lang="en" sz="600">
                <a:solidFill>
                  <a:schemeClr val="dk1"/>
                </a:solidFill>
              </a:rPr>
              <a:t>ors frame BIM and AI as </a:t>
            </a:r>
            <a:r>
              <a:rPr b="1" lang="en" sz="600">
                <a:solidFill>
                  <a:schemeClr val="dk1"/>
                </a:solidFill>
              </a:rPr>
              <a:t>socio-technical systems</a:t>
            </a:r>
            <a:r>
              <a:rPr lang="en" sz="600">
                <a:solidFill>
                  <a:schemeClr val="dk1"/>
                </a:solidFill>
              </a:rPr>
              <a:t>, meaning their impact is shaped not just by software availability but by: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1.2 Empirical Study Design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study tested seven hypotheses examining associations between BIM/AI use and sustainability outcomes.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1.3 Key Quantitative Results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</a:rPr>
              <a:t>Strong Positive Correlations Found</a:t>
            </a:r>
            <a:endParaRPr b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Both BIM and AI show statistically significant positive relationships with sustainability-oriented planning outcomes.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 </a:t>
            </a:r>
            <a:r>
              <a:rPr b="1" lang="en" sz="600">
                <a:solidFill>
                  <a:schemeClr val="dk1"/>
                </a:solidFill>
              </a:rPr>
              <a:t>Conclusion:</a:t>
            </a:r>
            <a:r>
              <a:rPr lang="en" sz="600">
                <a:solidFill>
                  <a:schemeClr val="dk1"/>
                </a:solidFill>
              </a:rPr>
              <a:t> BIM demonstrates stronger associations with sustainability planning than AI.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1.4 Adoption Patterns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This suggests digital tools are primarily used for </a:t>
            </a:r>
            <a:r>
              <a:rPr b="1" lang="en" sz="600">
                <a:solidFill>
                  <a:schemeClr val="dk1"/>
                </a:solidFill>
              </a:rPr>
              <a:t>planning efficiency</a:t>
            </a:r>
            <a:r>
              <a:rPr lang="en" sz="600">
                <a:solidFill>
                  <a:schemeClr val="dk1"/>
                </a:solidFill>
              </a:rPr>
              <a:t>, not yet for deep material circularity or lifecycle sustainability.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1.5 Complementary Roles of BIM and AI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 study finds maximum effectiveness when:</a:t>
            </a:r>
            <a:endParaRPr b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Digital tools do not replace human decision-makers—they amplify them.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0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284825" y="1017725"/>
            <a:ext cx="86745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2.1 Sustainability and Climate Goals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Digital tools like BIM and AI support:</a:t>
            </a: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Resource efficiency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Waste reduction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Energy optimization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Improved long-term cost structuring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2.2 Digital Divide Within Europe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This has implications for:</a:t>
            </a: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Competitiveness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Cross-border collaboration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Access to EU-funded projects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581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">
                <a:solidFill>
                  <a:schemeClr val="dk1"/>
                </a:solidFill>
              </a:rPr>
              <a:t>Supply chain integration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2.3 Workforce Transformation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Automation does not eliminate human roles—it transforms them.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Construction becomes more knowledge-intensive rather than labor-intensive.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2.4 From Tool Adoption to Systemic Change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This reinforces the idea that technology alone does not create transformation—systems do.</a:t>
            </a:r>
            <a:endParaRPr sz="1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141875" y="1152450"/>
            <a:ext cx="45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3.1 Immediate Industry Implications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The research provides strong statistical evidence that: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BIM significantly enhances sustainable cost and resource planning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AI enhances forecasting and optimization but remains underused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Combined BIM–AI deployment yields stronger outcomes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For industry leaders, this strengthens the business case for: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BIM maturity upgrades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AI integration into planning workflows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Investment in digital capability development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6" name="Google Shape;126;p29"/>
          <p:cNvSpPr txBox="1"/>
          <p:nvPr>
            <p:ph idx="1" type="body"/>
          </p:nvPr>
        </p:nvSpPr>
        <p:spPr>
          <a:xfrm>
            <a:off x="4572000" y="1112875"/>
            <a:ext cx="45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3.2 Strategic Insights for Contractors and Developers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Cost optimization</a:t>
            </a:r>
            <a:r>
              <a:rPr lang="en" sz="1000">
                <a:solidFill>
                  <a:schemeClr val="dk1"/>
                </a:solidFill>
              </a:rPr>
              <a:t> is currently the strongest application area.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However, the industry is underutilizing digital tools for: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Materials circularity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Lifecycle carbon tracking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Advanced resource efficiency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This signals a future competitive advantage for firms that move beyond planning efficiency toward full lifecycle sustainability modeling.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32" name="Google Shape;132;p30"/>
          <p:cNvSpPr txBox="1"/>
          <p:nvPr>
            <p:ph idx="1" type="body"/>
          </p:nvPr>
        </p:nvSpPr>
        <p:spPr>
          <a:xfrm>
            <a:off x="141875" y="1152450"/>
            <a:ext cx="45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3.3 Implications for SMEs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Since SMEs dominate construction in Central Europe: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High upfront investment remains a barrier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Skill gaps limit adoption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Lack of regulatory mandates slows diffusion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Policy incentives and shared digital infrastructure could accelerate uptake.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4572000" y="1112875"/>
            <a:ext cx="45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3.4 Industry 4.0 Transition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The findings support the broader shift toward Construction 4.0: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BIM → Structured digital backbone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AI → Intelligent analytics layer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Digital twins → Future integration pathway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This evolution could lead to: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Real-time performance monitoring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Predictive maintenance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Automated compliance checking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Generative sustainable design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348600" y="1108150"/>
            <a:ext cx="45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3.5 Long-Term Competitive Impact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Firms that successfully integrate BIM and AI will likely achieve: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Lower cost overruns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Better schedule reliability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Improved sustainability metrics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Higher project transparency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Those that do not risk falling behind in increasingly digital procurement ecosystems.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