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9be66de3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9be66de3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9be66de3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9be66de3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9be66de3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9be66de3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9be66de3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9be66de3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cfr.org/articles/how-2026-could-decide-future-artificial-intelligence"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How 2026 Could Decide the Future of Artificial Intelligence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Week of January 19</a:t>
            </a:r>
            <a:endParaRPr/>
          </a:p>
          <a:p>
            <a:pPr indent="0" lvl="0" marL="0" rtl="0" algn="ctr">
              <a:spcBef>
                <a:spcPts val="0"/>
              </a:spcBef>
              <a:spcAft>
                <a:spcPts val="0"/>
              </a:spcAft>
              <a:buNone/>
            </a:pPr>
            <a:r>
              <a:rPr lang="en"/>
              <a:t>Elias Hord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 Information</a:t>
            </a:r>
            <a:endParaRPr/>
          </a:p>
        </p:txBody>
      </p:sp>
      <p:sp>
        <p:nvSpPr>
          <p:cNvPr id="61" name="Google Shape;61;p14"/>
          <p:cNvSpPr txBox="1"/>
          <p:nvPr>
            <p:ph idx="1" type="body"/>
          </p:nvPr>
        </p:nvSpPr>
        <p:spPr>
          <a:xfrm>
            <a:off x="311700" y="1152475"/>
            <a:ext cx="40623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Article Publication: January 12, 2026</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3"/>
              </a:rPr>
              <a:t>https://www.cfr.org/articles/how-2026-could-decide-future-artificial-intelligence</a:t>
            </a:r>
            <a:r>
              <a:rPr lang="en"/>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2" name="Google Shape;62;p14"/>
          <p:cNvPicPr preferRelativeResize="0"/>
          <p:nvPr/>
        </p:nvPicPr>
        <p:blipFill>
          <a:blip r:embed="rId4">
            <a:alphaModFix/>
          </a:blip>
          <a:stretch>
            <a:fillRect/>
          </a:stretch>
        </p:blipFill>
        <p:spPr>
          <a:xfrm>
            <a:off x="4476020" y="1454150"/>
            <a:ext cx="4408124" cy="25068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Findings and Arguments</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85871" lvl="0" marL="457200" rtl="0" algn="l">
              <a:spcBef>
                <a:spcPts val="1400"/>
              </a:spcBef>
              <a:spcAft>
                <a:spcPts val="0"/>
              </a:spcAft>
              <a:buClr>
                <a:schemeClr val="dk1"/>
              </a:buClr>
              <a:buSzPts val="902"/>
              <a:buChar char="●"/>
            </a:pPr>
            <a:r>
              <a:rPr b="1" lang="en" sz="901">
                <a:solidFill>
                  <a:schemeClr val="dk1"/>
                </a:solidFill>
              </a:rPr>
              <a:t>AI Is Entering a Decisive Phase</a:t>
            </a:r>
            <a:endParaRPr b="1" sz="90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The article argues that </a:t>
            </a:r>
            <a:r>
              <a:rPr b="1" lang="en" sz="851">
                <a:solidFill>
                  <a:schemeClr val="dk1"/>
                </a:solidFill>
              </a:rPr>
              <a:t>2026 will mark a transition from speculative debate to real-world impact</a:t>
            </a:r>
            <a:r>
              <a:rPr lang="en" sz="851">
                <a:solidFill>
                  <a:schemeClr val="dk1"/>
                </a:solidFill>
              </a:rPr>
              <a:t> of AI technologies as systems move from research projects into widespread deployment. Policy and governance decisions made this year will have lasting effects on how AI is used and regulated globally</a:t>
            </a:r>
            <a:endParaRPr sz="851">
              <a:solidFill>
                <a:schemeClr val="dk1"/>
              </a:solidFill>
            </a:endParaRPr>
          </a:p>
          <a:p>
            <a:pPr indent="-285871" lvl="0" marL="457200" rtl="0" algn="l">
              <a:spcBef>
                <a:spcPts val="0"/>
              </a:spcBef>
              <a:spcAft>
                <a:spcPts val="0"/>
              </a:spcAft>
              <a:buClr>
                <a:schemeClr val="dk1"/>
              </a:buClr>
              <a:buSzPts val="902"/>
              <a:buChar char="●"/>
            </a:pPr>
            <a:r>
              <a:rPr b="1" lang="en" sz="901">
                <a:solidFill>
                  <a:schemeClr val="dk1"/>
                </a:solidFill>
              </a:rPr>
              <a:t>Geopolitical Competition, Especially U.S.–China</a:t>
            </a:r>
            <a:endParaRPr b="1" sz="90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A central theme is the </a:t>
            </a:r>
            <a:r>
              <a:rPr b="1" lang="en" sz="851">
                <a:solidFill>
                  <a:schemeClr val="dk1"/>
                </a:solidFill>
              </a:rPr>
              <a:t>strategic competition between the United States and China</a:t>
            </a:r>
            <a:r>
              <a:rPr lang="en" sz="851">
                <a:solidFill>
                  <a:schemeClr val="dk1"/>
                </a:solidFill>
              </a:rPr>
              <a:t> for leadership in AI capabilities, market influence, and standards setting. Export controls on chips and access to advanced computing infrastructure remain key policy battlegrounds.</a:t>
            </a:r>
            <a:endParaRPr sz="851">
              <a:solidFill>
                <a:schemeClr val="dk1"/>
              </a:solidFill>
            </a:endParaRPr>
          </a:p>
          <a:p>
            <a:pPr indent="-285871" lvl="0" marL="457200" rtl="0" algn="l">
              <a:spcBef>
                <a:spcPts val="0"/>
              </a:spcBef>
              <a:spcAft>
                <a:spcPts val="0"/>
              </a:spcAft>
              <a:buClr>
                <a:schemeClr val="dk1"/>
              </a:buClr>
              <a:buSzPts val="902"/>
              <a:buChar char="●"/>
            </a:pPr>
            <a:r>
              <a:rPr b="1" lang="en" sz="901">
                <a:solidFill>
                  <a:schemeClr val="dk1"/>
                </a:solidFill>
              </a:rPr>
              <a:t>Governance and Regulation Challenges</a:t>
            </a:r>
            <a:endParaRPr b="1" sz="90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Governments are moving from drafting rules to enforcing them. In 2026:</a:t>
            </a:r>
            <a:endParaRPr sz="85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The EU’s AI Act takes full effect with significant penalties; China’s Cybersecurity Law now explicitly includes AI oversight; U.S. states begin mandating disclosures and transparency for AI-driven decisions.</a:t>
            </a:r>
            <a:endParaRPr sz="85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Beyond enforcement, there’s growing debate about the </a:t>
            </a:r>
            <a:r>
              <a:rPr b="1" lang="en" sz="851">
                <a:solidFill>
                  <a:schemeClr val="dk1"/>
                </a:solidFill>
              </a:rPr>
              <a:t>legal and philosophical status of AI systems</a:t>
            </a:r>
            <a:r>
              <a:rPr lang="en" sz="851">
                <a:solidFill>
                  <a:schemeClr val="dk1"/>
                </a:solidFill>
              </a:rPr>
              <a:t>—e.g., whether highly autonomous agents should have legal responsibilities or rights.</a:t>
            </a:r>
            <a:endParaRPr sz="851">
              <a:solidFill>
                <a:schemeClr val="dk1"/>
              </a:solidFill>
            </a:endParaRPr>
          </a:p>
          <a:p>
            <a:pPr indent="-285871" lvl="0" marL="457200" rtl="0" algn="l">
              <a:spcBef>
                <a:spcPts val="0"/>
              </a:spcBef>
              <a:spcAft>
                <a:spcPts val="0"/>
              </a:spcAft>
              <a:buClr>
                <a:schemeClr val="dk1"/>
              </a:buClr>
              <a:buSzPts val="902"/>
              <a:buChar char="●"/>
            </a:pPr>
            <a:r>
              <a:rPr b="1" lang="en" sz="901">
                <a:solidFill>
                  <a:schemeClr val="dk1"/>
                </a:solidFill>
              </a:rPr>
              <a:t>Trust and Security (“AI Trust Gap”)</a:t>
            </a:r>
            <a:endParaRPr b="1" sz="90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A key operational challenge is lack of </a:t>
            </a:r>
            <a:r>
              <a:rPr b="1" lang="en" sz="851">
                <a:solidFill>
                  <a:schemeClr val="dk1"/>
                </a:solidFill>
              </a:rPr>
              <a:t>visibility into autonomous AI behavior, digital identities, and AI-generated code</a:t>
            </a:r>
            <a:r>
              <a:rPr lang="en" sz="851">
                <a:solidFill>
                  <a:schemeClr val="dk1"/>
                </a:solidFill>
              </a:rPr>
              <a:t> (“shadow autonomy,” “shadow identities,” “shadow code”). This trust gap undermines adoption and creates security vulnerabilities, particularly in critical systems.</a:t>
            </a:r>
            <a:endParaRPr sz="851">
              <a:solidFill>
                <a:schemeClr val="dk1"/>
              </a:solidFill>
            </a:endParaRPr>
          </a:p>
          <a:p>
            <a:pPr indent="-285871" lvl="0" marL="457200" rtl="0" algn="l">
              <a:spcBef>
                <a:spcPts val="0"/>
              </a:spcBef>
              <a:spcAft>
                <a:spcPts val="0"/>
              </a:spcAft>
              <a:buClr>
                <a:schemeClr val="dk1"/>
              </a:buClr>
              <a:buSzPts val="902"/>
              <a:buChar char="●"/>
            </a:pPr>
            <a:r>
              <a:rPr b="1" lang="en" sz="901">
                <a:solidFill>
                  <a:schemeClr val="dk1"/>
                </a:solidFill>
              </a:rPr>
              <a:t>AI Adoption Over Breakthroughs</a:t>
            </a:r>
            <a:endParaRPr b="1" sz="901">
              <a:solidFill>
                <a:schemeClr val="dk1"/>
              </a:solidFill>
            </a:endParaRPr>
          </a:p>
          <a:p>
            <a:pPr indent="-282696" lvl="1" marL="914400" rtl="0" algn="l">
              <a:spcBef>
                <a:spcPts val="0"/>
              </a:spcBef>
              <a:spcAft>
                <a:spcPts val="0"/>
              </a:spcAft>
              <a:buClr>
                <a:schemeClr val="dk1"/>
              </a:buClr>
              <a:buSzPts val="852"/>
              <a:buChar char="○"/>
            </a:pPr>
            <a:r>
              <a:rPr lang="en" sz="851">
                <a:solidFill>
                  <a:schemeClr val="dk1"/>
                </a:solidFill>
              </a:rPr>
              <a:t>Instead of a dramatic breakthrough event (like sociopathic superintelligence), the real change in 2026 will be </a:t>
            </a:r>
            <a:r>
              <a:rPr b="1" lang="en" sz="851">
                <a:solidFill>
                  <a:schemeClr val="dk1"/>
                </a:solidFill>
              </a:rPr>
              <a:t>widespread adoption of AI across business, government, and defense</a:t>
            </a:r>
            <a:r>
              <a:rPr lang="en" sz="851">
                <a:solidFill>
                  <a:schemeClr val="dk1"/>
                </a:solidFill>
              </a:rPr>
              <a:t>—similar to the transformative roles of electricity or the combustion engine.</a:t>
            </a:r>
            <a:endParaRPr sz="851">
              <a:solidFill>
                <a:schemeClr val="dk1"/>
              </a:solidFill>
            </a:endParaRPr>
          </a:p>
          <a:p>
            <a:pPr indent="-285871" lvl="0" marL="457200" rtl="0" algn="l">
              <a:spcBef>
                <a:spcPts val="0"/>
              </a:spcBef>
              <a:spcAft>
                <a:spcPts val="0"/>
              </a:spcAft>
              <a:buClr>
                <a:schemeClr val="dk1"/>
              </a:buClr>
              <a:buSzPts val="902"/>
              <a:buChar char="●"/>
            </a:pPr>
            <a:r>
              <a:rPr b="1" lang="en" sz="901">
                <a:solidFill>
                  <a:schemeClr val="dk1"/>
                </a:solidFill>
              </a:rPr>
              <a:t>Multidimensional “AI Competition”</a:t>
            </a:r>
            <a:endParaRPr b="1" sz="901">
              <a:solidFill>
                <a:schemeClr val="dk1"/>
              </a:solidFill>
            </a:endParaRPr>
          </a:p>
          <a:p>
            <a:pPr indent="-285871" lvl="1" marL="914400" rtl="0" algn="l">
              <a:spcBef>
                <a:spcPts val="0"/>
              </a:spcBef>
              <a:spcAft>
                <a:spcPts val="0"/>
              </a:spcAft>
              <a:buClr>
                <a:schemeClr val="dk1"/>
              </a:buClr>
              <a:buSzPts val="902"/>
              <a:buChar char="○"/>
            </a:pPr>
            <a:r>
              <a:rPr lang="en" sz="851">
                <a:solidFill>
                  <a:schemeClr val="dk1"/>
                </a:solidFill>
              </a:rPr>
              <a:t>The article rejects a simplistic “race” metaphor. U.S.–China competition spans multiple domains (frontier innovation, adoption in national security, and shaping global norms), and success will depend on versatility and strategy rather than speed alone.</a:t>
            </a:r>
            <a:br>
              <a:rPr lang="en" sz="375">
                <a:solidFill>
                  <a:schemeClr val="dk1"/>
                </a:solidFill>
              </a:rPr>
            </a:br>
            <a:endParaRPr sz="45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Broader Implications for Society</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SzPts val="688"/>
              <a:buNone/>
            </a:pPr>
            <a:r>
              <a:rPr b="1" lang="en" sz="1012">
                <a:solidFill>
                  <a:schemeClr val="dk1"/>
                </a:solidFill>
              </a:rPr>
              <a:t>Economic and Labor Impact</a:t>
            </a:r>
            <a:endParaRPr b="1" sz="1012">
              <a:solidFill>
                <a:schemeClr val="dk1"/>
              </a:solidFill>
            </a:endParaRPr>
          </a:p>
          <a:p>
            <a:pPr indent="-284956" lvl="0" marL="457200" rtl="0" algn="l">
              <a:lnSpc>
                <a:spcPct val="95000"/>
              </a:lnSpc>
              <a:spcBef>
                <a:spcPts val="1200"/>
              </a:spcBef>
              <a:spcAft>
                <a:spcPts val="0"/>
              </a:spcAft>
              <a:buClr>
                <a:schemeClr val="dk1"/>
              </a:buClr>
              <a:buSzPts val="888"/>
              <a:buChar char="●"/>
            </a:pPr>
            <a:r>
              <a:rPr lang="en" sz="887">
                <a:solidFill>
                  <a:schemeClr val="dk1"/>
                </a:solidFill>
              </a:rPr>
              <a:t>AI adoption could disrupt labor markets, particularly entry-level “knowledge work,” potentially increasing unemployment in some sectors while boosting overall productivity. Policymakers will face growing pressure to address workforce transitions and social safety nets.</a:t>
            </a:r>
            <a:br>
              <a:rPr lang="en" sz="887">
                <a:solidFill>
                  <a:schemeClr val="dk1"/>
                </a:solidFill>
              </a:rPr>
            </a:br>
            <a:endParaRPr sz="887">
              <a:solidFill>
                <a:schemeClr val="dk1"/>
              </a:solidFill>
            </a:endParaRPr>
          </a:p>
          <a:p>
            <a:pPr indent="0" lvl="0" marL="0" rtl="0" algn="l">
              <a:lnSpc>
                <a:spcPct val="95000"/>
              </a:lnSpc>
              <a:spcBef>
                <a:spcPts val="1400"/>
              </a:spcBef>
              <a:spcAft>
                <a:spcPts val="0"/>
              </a:spcAft>
              <a:buSzPts val="688"/>
              <a:buNone/>
            </a:pPr>
            <a:r>
              <a:rPr b="1" lang="en" sz="1012">
                <a:solidFill>
                  <a:schemeClr val="dk1"/>
                </a:solidFill>
              </a:rPr>
              <a:t>Governance and Legal Systems</a:t>
            </a:r>
            <a:endParaRPr b="1" sz="1012">
              <a:solidFill>
                <a:schemeClr val="dk1"/>
              </a:solidFill>
            </a:endParaRPr>
          </a:p>
          <a:p>
            <a:pPr indent="-284956" lvl="0" marL="457200" rtl="0" algn="l">
              <a:lnSpc>
                <a:spcPct val="95000"/>
              </a:lnSpc>
              <a:spcBef>
                <a:spcPts val="1200"/>
              </a:spcBef>
              <a:spcAft>
                <a:spcPts val="0"/>
              </a:spcAft>
              <a:buClr>
                <a:schemeClr val="dk1"/>
              </a:buClr>
              <a:buSzPts val="888"/>
              <a:buChar char="●"/>
            </a:pPr>
            <a:r>
              <a:rPr lang="en" sz="887">
                <a:solidFill>
                  <a:schemeClr val="dk1"/>
                </a:solidFill>
              </a:rPr>
              <a:t>The transition to enforced regulation will test governments’ capacity to manage technological change. Questions about </a:t>
            </a:r>
            <a:r>
              <a:rPr b="1" lang="en" sz="887">
                <a:solidFill>
                  <a:schemeClr val="dk1"/>
                </a:solidFill>
              </a:rPr>
              <a:t>who is responsible for AI actions</a:t>
            </a:r>
            <a:r>
              <a:rPr lang="en" sz="887">
                <a:solidFill>
                  <a:schemeClr val="dk1"/>
                </a:solidFill>
              </a:rPr>
              <a:t>, how to protect rights, and how to regulate autonomous agents legally will increasingly enter domestic politics and litigation.</a:t>
            </a:r>
            <a:br>
              <a:rPr lang="en" sz="887">
                <a:solidFill>
                  <a:schemeClr val="dk1"/>
                </a:solidFill>
              </a:rPr>
            </a:br>
            <a:endParaRPr sz="887">
              <a:solidFill>
                <a:schemeClr val="dk1"/>
              </a:solidFill>
            </a:endParaRPr>
          </a:p>
          <a:p>
            <a:pPr indent="0" lvl="0" marL="0" rtl="0" algn="l">
              <a:lnSpc>
                <a:spcPct val="95000"/>
              </a:lnSpc>
              <a:spcBef>
                <a:spcPts val="1400"/>
              </a:spcBef>
              <a:spcAft>
                <a:spcPts val="0"/>
              </a:spcAft>
              <a:buSzPts val="688"/>
              <a:buNone/>
            </a:pPr>
            <a:r>
              <a:rPr b="1" lang="en" sz="1012">
                <a:solidFill>
                  <a:schemeClr val="dk1"/>
                </a:solidFill>
              </a:rPr>
              <a:t>Security and Trust in Institutions</a:t>
            </a:r>
            <a:endParaRPr b="1" sz="1012">
              <a:solidFill>
                <a:schemeClr val="dk1"/>
              </a:solidFill>
            </a:endParaRPr>
          </a:p>
          <a:p>
            <a:pPr indent="-284956" lvl="0" marL="457200" rtl="0" algn="l">
              <a:lnSpc>
                <a:spcPct val="95000"/>
              </a:lnSpc>
              <a:spcBef>
                <a:spcPts val="1200"/>
              </a:spcBef>
              <a:spcAft>
                <a:spcPts val="0"/>
              </a:spcAft>
              <a:buClr>
                <a:schemeClr val="dk1"/>
              </a:buClr>
              <a:buSzPts val="888"/>
              <a:buChar char="●"/>
            </a:pPr>
            <a:r>
              <a:rPr lang="en" sz="887">
                <a:solidFill>
                  <a:schemeClr val="dk1"/>
                </a:solidFill>
              </a:rPr>
              <a:t>The proliferation of opaque AI systems—especially those making autonomous decisions or generating code—creates blind spots in cybersecurity. Without enhanced visibility and governance, organizations may delay beneficial AI use due to trust issues, slowing economic and institutional modernization.</a:t>
            </a:r>
            <a:br>
              <a:rPr lang="en" sz="887">
                <a:solidFill>
                  <a:schemeClr val="dk1"/>
                </a:solidFill>
              </a:rPr>
            </a:br>
            <a:endParaRPr sz="887">
              <a:solidFill>
                <a:schemeClr val="dk1"/>
              </a:solidFill>
            </a:endParaRPr>
          </a:p>
          <a:p>
            <a:pPr indent="0" lvl="0" marL="0" rtl="0" algn="l">
              <a:lnSpc>
                <a:spcPct val="95000"/>
              </a:lnSpc>
              <a:spcBef>
                <a:spcPts val="1400"/>
              </a:spcBef>
              <a:spcAft>
                <a:spcPts val="0"/>
              </a:spcAft>
              <a:buSzPts val="688"/>
              <a:buNone/>
            </a:pPr>
            <a:r>
              <a:rPr b="1" lang="en" sz="1012">
                <a:solidFill>
                  <a:schemeClr val="dk1"/>
                </a:solidFill>
              </a:rPr>
              <a:t>Global Order and Norms</a:t>
            </a:r>
            <a:endParaRPr b="1" sz="1012">
              <a:solidFill>
                <a:schemeClr val="dk1"/>
              </a:solidFill>
            </a:endParaRPr>
          </a:p>
          <a:p>
            <a:pPr indent="-284956" lvl="0" marL="457200" rtl="0" algn="l">
              <a:lnSpc>
                <a:spcPct val="95000"/>
              </a:lnSpc>
              <a:spcBef>
                <a:spcPts val="1200"/>
              </a:spcBef>
              <a:spcAft>
                <a:spcPts val="0"/>
              </a:spcAft>
              <a:buClr>
                <a:schemeClr val="dk1"/>
              </a:buClr>
              <a:buSzPts val="888"/>
              <a:buChar char="●"/>
            </a:pPr>
            <a:r>
              <a:rPr lang="en" sz="887">
                <a:solidFill>
                  <a:schemeClr val="dk1"/>
                </a:solidFill>
              </a:rPr>
              <a:t>Differing national approaches (e.g., state-centric control in China vs. rights-based frameworks in the EU) risk fragmenting the global AI environment. Countries with more permissive or efficient regulatory regimes may attract talent and investment, shaping global economic and technological hierarchies.</a:t>
            </a:r>
            <a:br>
              <a:rPr lang="en" sz="887">
                <a:solidFill>
                  <a:schemeClr val="dk1"/>
                </a:solidFill>
              </a:rPr>
            </a:br>
            <a:endParaRPr sz="887">
              <a:solidFill>
                <a:schemeClr val="dk1"/>
              </a:solidFill>
            </a:endParaRPr>
          </a:p>
          <a:p>
            <a:pPr indent="0" lvl="0" marL="0" rtl="0" algn="l">
              <a:lnSpc>
                <a:spcPct val="95000"/>
              </a:lnSpc>
              <a:spcBef>
                <a:spcPts val="1200"/>
              </a:spcBef>
              <a:spcAft>
                <a:spcPts val="1200"/>
              </a:spcAft>
              <a:buSzPts val="688"/>
              <a:buNone/>
            </a:pPr>
            <a:r>
              <a:t/>
            </a:r>
            <a:endParaRPr sz="112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Relevance or Potential Influence on the Construction Industry</a:t>
            </a:r>
            <a:endParaRPr sz="2320"/>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en" sz="1300">
                <a:solidFill>
                  <a:schemeClr val="dk1"/>
                </a:solidFill>
              </a:rPr>
              <a:t>AI Adoption for Project Planning &amp; Automation</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As AI adoption accelerates in 2026, construction firms could use AI agents for </a:t>
            </a:r>
            <a:r>
              <a:rPr b="1" lang="en" sz="1100">
                <a:solidFill>
                  <a:schemeClr val="dk1"/>
                </a:solidFill>
              </a:rPr>
              <a:t>design optimization, project scheduling, supply-chain coordination, and risk analysis</a:t>
            </a:r>
            <a:r>
              <a:rPr lang="en" sz="1100">
                <a:solidFill>
                  <a:schemeClr val="dk1"/>
                </a:solidFill>
              </a:rPr>
              <a:t>—similar to how businesses and government agencies in other sectors integrate AI into core workflows.</a:t>
            </a:r>
            <a:br>
              <a:rPr lang="en" sz="1100">
                <a:solidFill>
                  <a:schemeClr val="dk1"/>
                </a:solidFill>
              </a:rPr>
            </a:br>
            <a:endParaRPr sz="1100">
              <a:solidFill>
                <a:schemeClr val="dk1"/>
              </a:solidFill>
            </a:endParaRPr>
          </a:p>
          <a:p>
            <a:pPr indent="0" lvl="0" marL="0" rtl="0" algn="l">
              <a:spcBef>
                <a:spcPts val="1400"/>
              </a:spcBef>
              <a:spcAft>
                <a:spcPts val="0"/>
              </a:spcAft>
              <a:buNone/>
            </a:pPr>
            <a:r>
              <a:rPr b="1" lang="en" sz="1300">
                <a:solidFill>
                  <a:schemeClr val="dk1"/>
                </a:solidFill>
              </a:rPr>
              <a:t>Workforce Transformation</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The sector’s workforce could see shifts due to AI tools taking on tasks like drafting reports, analyzing site data, or monitoring safety compliance. This parallels broader labor disruptions noted in the article and may require </a:t>
            </a:r>
            <a:r>
              <a:rPr b="1" lang="en" sz="1100">
                <a:solidFill>
                  <a:schemeClr val="dk1"/>
                </a:solidFill>
              </a:rPr>
              <a:t>retraining and new skill development</a:t>
            </a:r>
            <a:r>
              <a:rPr lang="en" sz="1100">
                <a:solidFill>
                  <a:schemeClr val="dk1"/>
                </a:solidFill>
              </a:rPr>
              <a:t>.</a:t>
            </a:r>
            <a:br>
              <a:rPr lang="en" sz="1100">
                <a:solidFill>
                  <a:schemeClr val="dk1"/>
                </a:solidFill>
              </a:rPr>
            </a:br>
            <a:endParaRPr sz="1100">
              <a:solidFill>
                <a:schemeClr val="dk1"/>
              </a:solidFill>
            </a:endParaRPr>
          </a:p>
          <a:p>
            <a:pPr indent="0" lvl="0" marL="0" rtl="0" algn="l">
              <a:spcBef>
                <a:spcPts val="1400"/>
              </a:spcBef>
              <a:spcAft>
                <a:spcPts val="0"/>
              </a:spcAft>
              <a:buNone/>
            </a:pPr>
            <a:r>
              <a:rPr b="1" lang="en" sz="1300">
                <a:solidFill>
                  <a:schemeClr val="dk1"/>
                </a:solidFill>
              </a:rPr>
              <a:t>Regulatory and Safety Considerations</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As governments enforce AI regulations, construction companies deploying AI for critical decisions (e.g., structural design, safety monitoring) will need to comply with transparency and accountability laws emerging in the U.S. and abroad.</a:t>
            </a:r>
            <a:br>
              <a:rPr lang="en" sz="1100">
                <a:solidFill>
                  <a:schemeClr val="dk1"/>
                </a:solidFill>
              </a:rPr>
            </a:br>
            <a:endParaRPr sz="1100">
              <a:solidFill>
                <a:schemeClr val="dk1"/>
              </a:solidFill>
            </a:endParaRPr>
          </a:p>
          <a:p>
            <a:pPr indent="0" lvl="0" marL="0" rtl="0" algn="l">
              <a:spcBef>
                <a:spcPts val="1400"/>
              </a:spcBef>
              <a:spcAft>
                <a:spcPts val="0"/>
              </a:spcAft>
              <a:buNone/>
            </a:pPr>
            <a:r>
              <a:rPr b="1" lang="en" sz="1300">
                <a:solidFill>
                  <a:schemeClr val="dk1"/>
                </a:solidFill>
              </a:rPr>
              <a:t>Cybersecurity &amp; Trust Issues</a:t>
            </a:r>
            <a:endParaRPr b="1" sz="13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The “trust gap” in AI systems is especially pertinent where autonomous systems collect and act on sensitive data (e.g., site monitoring, equipment control). Construction firms must prioritize secure AI governance to prevent breaches and ensure operational continuity.</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