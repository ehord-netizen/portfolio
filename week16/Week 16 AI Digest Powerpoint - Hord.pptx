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2" roundtripDataSignature="AMtx7mj1IWRcOD0zjS0c52LS9gP+EO4M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778aeab0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778aeab0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forbes.com/sites/robtoews/2025/12/22/10-ai-predictions-for-2026/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2250150" y="2213125"/>
            <a:ext cx="46437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80"/>
              <a:t>10 AI Predictions For 2026</a:t>
            </a:r>
            <a:endParaRPr sz="328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8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36803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/>
              <a:t>Week of April 27th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/>
              <a:t>Elias Hord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General Information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8727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3332"/>
              <a:buNone/>
            </a:pPr>
            <a:r>
              <a:rPr lang="en" sz="5400"/>
              <a:t>Article Publication: December 22th, 2025</a:t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33332"/>
              <a:buNone/>
            </a:pPr>
            <a:r>
              <a:t/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33332"/>
              <a:buNone/>
            </a:pPr>
            <a:r>
              <a:rPr lang="en" sz="5400" u="sng">
                <a:solidFill>
                  <a:schemeClr val="hlink"/>
                </a:solidFill>
                <a:hlinkClick r:id="rId3"/>
              </a:rPr>
              <a:t>https://www.forbes.com/sites/robtoews/2025/12/22/10-ai-predictions-for-2026/</a:t>
            </a:r>
            <a:r>
              <a:rPr lang="en" sz="5400"/>
              <a:t> </a:t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2" name="Google Shape;6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523775"/>
            <a:ext cx="5200070" cy="246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Main Findings and Arguments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 txBox="1"/>
          <p:nvPr>
            <p:ph idx="1" type="body"/>
          </p:nvPr>
        </p:nvSpPr>
        <p:spPr>
          <a:xfrm>
            <a:off x="113100" y="1017725"/>
            <a:ext cx="8917800" cy="40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Major industry shifts and competition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AI companies will face </a:t>
            </a:r>
            <a:r>
              <a:rPr b="1" lang="en" sz="1100">
                <a:solidFill>
                  <a:schemeClr val="dk1"/>
                </a:solidFill>
              </a:rPr>
              <a:t>financial pressure</a:t>
            </a:r>
            <a:r>
              <a:rPr lang="en" sz="1100">
                <a:solidFill>
                  <a:schemeClr val="dk1"/>
                </a:solidFill>
              </a:rPr>
              <a:t>, with moves like IPOs (e.g., Anthropic) and continued private funding battles.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chemeClr val="dk1"/>
                </a:solidFill>
              </a:rPr>
              <a:t>U.S.–China AI rivalry</a:t>
            </a:r>
            <a:r>
              <a:rPr lang="en" sz="1100">
                <a:solidFill>
                  <a:schemeClr val="dk1"/>
                </a:solidFill>
              </a:rPr>
              <a:t> will intensify, especially in semiconductor development and supply chains.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Shift in how AI is built and used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Spending will move from training models to </a:t>
            </a:r>
            <a:r>
              <a:rPr b="1" lang="en" sz="1100">
                <a:solidFill>
                  <a:schemeClr val="dk1"/>
                </a:solidFill>
              </a:rPr>
              <a:t>running (inference) and deploying them at scale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Smaller, more efficient models</a:t>
            </a:r>
            <a:r>
              <a:rPr lang="en" sz="1100">
                <a:solidFill>
                  <a:schemeClr val="dk1"/>
                </a:solidFill>
              </a:rPr>
              <a:t> and techniques like distillation will become dominant over massive models.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Rise of AI agents and automation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AI systems will evolve into </a:t>
            </a:r>
            <a:r>
              <a:rPr b="1" lang="en" sz="1100">
                <a:solidFill>
                  <a:schemeClr val="dk1"/>
                </a:solidFill>
              </a:rPr>
              <a:t>“digital workers” or agent teams</a:t>
            </a:r>
            <a:r>
              <a:rPr lang="en" sz="1100">
                <a:solidFill>
                  <a:schemeClr val="dk1"/>
                </a:solidFill>
              </a:rPr>
              <a:t> capable of completing complex workflows autonomously.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Hardware, energy, and infrastructure pressures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AI demand will drive </a:t>
            </a:r>
            <a:r>
              <a:rPr b="1" lang="en" sz="1100">
                <a:solidFill>
                  <a:schemeClr val="dk1"/>
                </a:solidFill>
              </a:rPr>
              <a:t>custom chip development</a:t>
            </a:r>
            <a:r>
              <a:rPr lang="en" sz="1100">
                <a:solidFill>
                  <a:schemeClr val="dk1"/>
                </a:solidFill>
              </a:rPr>
              <a:t> and strain energy systems, potentially accelerating alternative energy investments.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Expansion into robotics and physical-world AI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Significant progress in </a:t>
            </a:r>
            <a:r>
              <a:rPr b="1" lang="en" sz="1100">
                <a:solidFill>
                  <a:schemeClr val="dk1"/>
                </a:solidFill>
              </a:rPr>
              <a:t>humanoid robots and warehouse automation</a:t>
            </a:r>
            <a:r>
              <a:rPr lang="en" sz="1100">
                <a:solidFill>
                  <a:schemeClr val="dk1"/>
                </a:solidFill>
              </a:rPr>
              <a:t> is expected.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Data and regulation trends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Growth of </a:t>
            </a:r>
            <a:r>
              <a:rPr b="1" lang="en" sz="1100">
                <a:solidFill>
                  <a:schemeClr val="dk1"/>
                </a:solidFill>
              </a:rPr>
              <a:t>synthetic data</a:t>
            </a:r>
            <a:r>
              <a:rPr lang="en" sz="1100">
                <a:solidFill>
                  <a:schemeClr val="dk1"/>
                </a:solidFill>
              </a:rPr>
              <a:t> for training AI systems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Diverging regulations (stricter in Europe, lighter in the U.S.)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Cultural and technical shifts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Less focus on abstract ideas like AGI; more focus on </a:t>
            </a:r>
            <a:r>
              <a:rPr b="1" lang="en" sz="1100">
                <a:solidFill>
                  <a:schemeClr val="dk1"/>
                </a:solidFill>
              </a:rPr>
              <a:t>practical deployment and ROI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Increased importance of </a:t>
            </a:r>
            <a:r>
              <a:rPr b="1" lang="en" sz="1100">
                <a:solidFill>
                  <a:schemeClr val="dk1"/>
                </a:solidFill>
              </a:rPr>
              <a:t>trust, verification, and human-authored content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Broader Implications for Society</a:t>
            </a:r>
            <a:endParaRPr/>
          </a:p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311700" y="1017725"/>
            <a:ext cx="8674500" cy="3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" sz="1113">
                <a:solidFill>
                  <a:schemeClr val="dk1"/>
                </a:solidFill>
              </a:rPr>
              <a:t>1. Transformation of Work</a:t>
            </a:r>
            <a:endParaRPr b="1" sz="1113">
              <a:solidFill>
                <a:schemeClr val="dk1"/>
              </a:solidFill>
            </a:endParaRPr>
          </a:p>
          <a:p>
            <a:pPr indent="-29130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88"/>
              <a:buChar char="●"/>
            </a:pPr>
            <a:r>
              <a:rPr lang="en" sz="988">
                <a:solidFill>
                  <a:schemeClr val="dk1"/>
                </a:solidFill>
              </a:rPr>
              <a:t>AI agents will automate </a:t>
            </a:r>
            <a:r>
              <a:rPr b="1" lang="en" sz="988">
                <a:solidFill>
                  <a:schemeClr val="dk1"/>
                </a:solidFill>
              </a:rPr>
              <a:t>routine and even moderately complex tasks</a:t>
            </a:r>
            <a:r>
              <a:rPr lang="en" sz="988">
                <a:solidFill>
                  <a:schemeClr val="dk1"/>
                </a:solidFill>
              </a:rPr>
              <a:t>, shifting humans into oversight roles.</a:t>
            </a:r>
            <a:endParaRPr sz="988">
              <a:solidFill>
                <a:schemeClr val="dk1"/>
              </a:solidFill>
            </a:endParaRPr>
          </a:p>
          <a:p>
            <a:pPr indent="-2913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8"/>
              <a:buChar char="●"/>
            </a:pPr>
            <a:r>
              <a:rPr lang="en" sz="988">
                <a:solidFill>
                  <a:schemeClr val="dk1"/>
                </a:solidFill>
              </a:rPr>
              <a:t>New jobs will focus on </a:t>
            </a:r>
            <a:r>
              <a:rPr b="1" lang="en" sz="988">
                <a:solidFill>
                  <a:schemeClr val="dk1"/>
                </a:solidFill>
              </a:rPr>
              <a:t>managing, auditing, and coordinating AI systems</a:t>
            </a:r>
            <a:r>
              <a:rPr lang="en" sz="988">
                <a:solidFill>
                  <a:schemeClr val="dk1"/>
                </a:solidFill>
              </a:rPr>
              <a:t>, not just using them.</a:t>
            </a:r>
            <a:endParaRPr sz="98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" sz="1113">
                <a:solidFill>
                  <a:schemeClr val="dk1"/>
                </a:solidFill>
              </a:rPr>
              <a:t>2. Economic Restructuring</a:t>
            </a:r>
            <a:endParaRPr b="1" sz="1113">
              <a:solidFill>
                <a:schemeClr val="dk1"/>
              </a:solidFill>
            </a:endParaRPr>
          </a:p>
          <a:p>
            <a:pPr indent="-29130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88"/>
              <a:buChar char="●"/>
            </a:pPr>
            <a:r>
              <a:rPr lang="en" sz="988">
                <a:solidFill>
                  <a:schemeClr val="dk1"/>
                </a:solidFill>
              </a:rPr>
              <a:t>High infrastructure costs (chips, energy, data centers) will concentrate power among </a:t>
            </a:r>
            <a:r>
              <a:rPr b="1" lang="en" sz="988">
                <a:solidFill>
                  <a:schemeClr val="dk1"/>
                </a:solidFill>
              </a:rPr>
              <a:t>large tech firms and nations</a:t>
            </a:r>
            <a:r>
              <a:rPr lang="en" sz="988">
                <a:solidFill>
                  <a:schemeClr val="dk1"/>
                </a:solidFill>
              </a:rPr>
              <a:t>.</a:t>
            </a:r>
            <a:endParaRPr sz="988">
              <a:solidFill>
                <a:schemeClr val="dk1"/>
              </a:solidFill>
            </a:endParaRPr>
          </a:p>
          <a:p>
            <a:pPr indent="-2913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8"/>
              <a:buChar char="●"/>
            </a:pPr>
            <a:r>
              <a:rPr lang="en" sz="988">
                <a:solidFill>
                  <a:schemeClr val="dk1"/>
                </a:solidFill>
              </a:rPr>
              <a:t>At the same time, smaller, efficient models may </a:t>
            </a:r>
            <a:r>
              <a:rPr b="1" lang="en" sz="988">
                <a:solidFill>
                  <a:schemeClr val="dk1"/>
                </a:solidFill>
              </a:rPr>
              <a:t>democratize access</a:t>
            </a:r>
            <a:r>
              <a:rPr lang="en" sz="988">
                <a:solidFill>
                  <a:schemeClr val="dk1"/>
                </a:solidFill>
              </a:rPr>
              <a:t> to AI tools.</a:t>
            </a:r>
            <a:endParaRPr sz="98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" sz="1113">
                <a:solidFill>
                  <a:schemeClr val="dk1"/>
                </a:solidFill>
              </a:rPr>
              <a:t>3. Geopolitical Tension</a:t>
            </a:r>
            <a:endParaRPr b="1" sz="1113">
              <a:solidFill>
                <a:schemeClr val="dk1"/>
              </a:solidFill>
            </a:endParaRPr>
          </a:p>
          <a:p>
            <a:pPr indent="-29130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88"/>
              <a:buChar char="●"/>
            </a:pPr>
            <a:r>
              <a:rPr lang="en" sz="988">
                <a:solidFill>
                  <a:schemeClr val="dk1"/>
                </a:solidFill>
              </a:rPr>
              <a:t>The U.S.–China competition in chips and AI could reshape global alliances and trade systems.</a:t>
            </a:r>
            <a:endParaRPr sz="98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" sz="1113">
                <a:solidFill>
                  <a:schemeClr val="dk1"/>
                </a:solidFill>
              </a:rPr>
              <a:t>4. Trust and Information Integrity</a:t>
            </a:r>
            <a:endParaRPr b="1" sz="1113">
              <a:solidFill>
                <a:schemeClr val="dk1"/>
              </a:solidFill>
            </a:endParaRPr>
          </a:p>
          <a:p>
            <a:pPr indent="-29130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88"/>
              <a:buChar char="●"/>
            </a:pPr>
            <a:r>
              <a:rPr lang="en" sz="988">
                <a:solidFill>
                  <a:schemeClr val="dk1"/>
                </a:solidFill>
              </a:rPr>
              <a:t>With synthetic data and AI-generated content increasing, </a:t>
            </a:r>
            <a:r>
              <a:rPr b="1" lang="en" sz="988">
                <a:solidFill>
                  <a:schemeClr val="dk1"/>
                </a:solidFill>
              </a:rPr>
              <a:t>verifiable human content and trust mechanisms</a:t>
            </a:r>
            <a:r>
              <a:rPr lang="en" sz="988">
                <a:solidFill>
                  <a:schemeClr val="dk1"/>
                </a:solidFill>
              </a:rPr>
              <a:t> become critical.</a:t>
            </a:r>
            <a:endParaRPr sz="988">
              <a:solidFill>
                <a:schemeClr val="dk1"/>
              </a:solidFill>
            </a:endParaRPr>
          </a:p>
          <a:p>
            <a:pPr indent="-2913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88"/>
              <a:buChar char="●"/>
            </a:pPr>
            <a:r>
              <a:rPr lang="en" sz="988">
                <a:solidFill>
                  <a:schemeClr val="dk1"/>
                </a:solidFill>
              </a:rPr>
              <a:t>Potential integration with technologies like blockchain for accountability is hinted.</a:t>
            </a:r>
            <a:endParaRPr sz="98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" sz="1113">
                <a:solidFill>
                  <a:schemeClr val="dk1"/>
                </a:solidFill>
              </a:rPr>
              <a:t>5. Everyday Life Integration</a:t>
            </a:r>
            <a:endParaRPr b="1" sz="1113">
              <a:solidFill>
                <a:schemeClr val="dk1"/>
              </a:solidFill>
            </a:endParaRPr>
          </a:p>
          <a:p>
            <a:pPr indent="-29130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88"/>
              <a:buChar char="●"/>
            </a:pPr>
            <a:r>
              <a:rPr lang="en" sz="988">
                <a:solidFill>
                  <a:schemeClr val="dk1"/>
                </a:solidFill>
              </a:rPr>
              <a:t>AI will become embedded in daily systems (shopping, communication, services), often acting </a:t>
            </a:r>
            <a:r>
              <a:rPr b="1" lang="en" sz="988">
                <a:solidFill>
                  <a:schemeClr val="dk1"/>
                </a:solidFill>
              </a:rPr>
              <a:t>on behalf of users</a:t>
            </a:r>
            <a:r>
              <a:rPr lang="en" sz="988">
                <a:solidFill>
                  <a:schemeClr val="dk1"/>
                </a:solidFill>
              </a:rPr>
              <a:t>, not just assisting them.</a:t>
            </a:r>
            <a:endParaRPr sz="98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25"/>
              <a:buNone/>
            </a:pPr>
            <a:r>
              <a:t/>
            </a:r>
            <a:endParaRPr sz="98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25"/>
              <a:buNone/>
            </a:pPr>
            <a:r>
              <a:t/>
            </a:r>
            <a:endParaRPr sz="688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Relevance or Potential Influence on the Construction Industry</a:t>
            </a:r>
            <a:endParaRPr sz="2320"/>
          </a:p>
        </p:txBody>
      </p:sp>
      <p:sp>
        <p:nvSpPr>
          <p:cNvPr id="80" name="Google Shape;80;p5"/>
          <p:cNvSpPr txBox="1"/>
          <p:nvPr>
            <p:ph idx="1" type="body"/>
          </p:nvPr>
        </p:nvSpPr>
        <p:spPr>
          <a:xfrm>
            <a:off x="311700" y="901925"/>
            <a:ext cx="8520600" cy="3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1. Automation of Project Management</a:t>
            </a:r>
            <a:endParaRPr b="1" sz="9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" sz="700">
                <a:solidFill>
                  <a:schemeClr val="dk1"/>
                </a:solidFill>
              </a:rPr>
              <a:t>AI agents could handle:</a:t>
            </a:r>
            <a:endParaRPr sz="700">
              <a:solidFill>
                <a:schemeClr val="dk1"/>
              </a:solidFill>
            </a:endParaRPr>
          </a:p>
          <a:p>
            <a:pPr indent="-2730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</a:pPr>
            <a:r>
              <a:rPr lang="en" sz="700">
                <a:solidFill>
                  <a:schemeClr val="dk1"/>
                </a:solidFill>
              </a:rPr>
              <a:t>Scheduling</a:t>
            </a:r>
            <a:endParaRPr sz="700">
              <a:solidFill>
                <a:schemeClr val="dk1"/>
              </a:solidFill>
            </a:endParaRPr>
          </a:p>
          <a:p>
            <a:pPr indent="-2730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</a:pPr>
            <a:r>
              <a:rPr lang="en" sz="700">
                <a:solidFill>
                  <a:schemeClr val="dk1"/>
                </a:solidFill>
              </a:rPr>
              <a:t>Cost estimation</a:t>
            </a:r>
            <a:endParaRPr sz="700">
              <a:solidFill>
                <a:schemeClr val="dk1"/>
              </a:solidFill>
            </a:endParaRPr>
          </a:p>
          <a:p>
            <a:pPr indent="-2730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</a:pPr>
            <a:r>
              <a:rPr lang="en" sz="700">
                <a:solidFill>
                  <a:schemeClr val="dk1"/>
                </a:solidFill>
              </a:rPr>
              <a:t>Procurement coordination</a:t>
            </a: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" sz="700">
                <a:solidFill>
                  <a:schemeClr val="dk1"/>
                </a:solidFill>
              </a:rPr>
              <a:t>This reduces administrative workload and improves efficiency.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2. Labor and Workforce Shifts</a:t>
            </a:r>
            <a:endParaRPr b="1" sz="9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" sz="700">
                <a:solidFill>
                  <a:schemeClr val="dk1"/>
                </a:solidFill>
              </a:rPr>
              <a:t>Increased automation may:</a:t>
            </a:r>
            <a:endParaRPr sz="700">
              <a:solidFill>
                <a:schemeClr val="dk1"/>
              </a:solidFill>
            </a:endParaRPr>
          </a:p>
          <a:p>
            <a:pPr indent="-2730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</a:pPr>
            <a:r>
              <a:rPr lang="en" sz="700">
                <a:solidFill>
                  <a:schemeClr val="dk1"/>
                </a:solidFill>
              </a:rPr>
              <a:t>Reduce demand for some administrative roles</a:t>
            </a:r>
            <a:endParaRPr sz="700">
              <a:solidFill>
                <a:schemeClr val="dk1"/>
              </a:solidFill>
            </a:endParaRPr>
          </a:p>
          <a:p>
            <a:pPr indent="-2730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</a:pPr>
            <a:r>
              <a:rPr lang="en" sz="700">
                <a:solidFill>
                  <a:schemeClr val="dk1"/>
                </a:solidFill>
              </a:rPr>
              <a:t>Increase demand for </a:t>
            </a:r>
            <a:r>
              <a:rPr b="1" lang="en" sz="700">
                <a:solidFill>
                  <a:schemeClr val="dk1"/>
                </a:solidFill>
              </a:rPr>
              <a:t>AI-literate construction managers and engineers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3. Robotics on Job Sites</a:t>
            </a:r>
            <a:endParaRPr b="1" sz="9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" sz="700">
                <a:solidFill>
                  <a:schemeClr val="dk1"/>
                </a:solidFill>
              </a:rPr>
              <a:t>Advances in robotics could lead to:</a:t>
            </a:r>
            <a:endParaRPr sz="700">
              <a:solidFill>
                <a:schemeClr val="dk1"/>
              </a:solidFill>
            </a:endParaRPr>
          </a:p>
          <a:p>
            <a:pPr indent="-2730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</a:pPr>
            <a:r>
              <a:rPr lang="en" sz="700">
                <a:solidFill>
                  <a:schemeClr val="dk1"/>
                </a:solidFill>
              </a:rPr>
              <a:t>Automated material handling</a:t>
            </a:r>
            <a:endParaRPr sz="700">
              <a:solidFill>
                <a:schemeClr val="dk1"/>
              </a:solidFill>
            </a:endParaRPr>
          </a:p>
          <a:p>
            <a:pPr indent="-2730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</a:pPr>
            <a:r>
              <a:rPr lang="en" sz="700">
                <a:solidFill>
                  <a:schemeClr val="dk1"/>
                </a:solidFill>
              </a:rPr>
              <a:t>Robotic construction tasks (bricklaying, inspections)</a:t>
            </a: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" sz="700">
                <a:solidFill>
                  <a:schemeClr val="dk1"/>
                </a:solidFill>
              </a:rPr>
              <a:t>Especially relevant for </a:t>
            </a:r>
            <a:r>
              <a:rPr b="1" lang="en" sz="700">
                <a:solidFill>
                  <a:schemeClr val="dk1"/>
                </a:solidFill>
              </a:rPr>
              <a:t>labor shortages and safety improvements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4. Smarter Infrastructure and Equipment</a:t>
            </a:r>
            <a:endParaRPr b="1" sz="900">
              <a:solidFill>
                <a:schemeClr val="dk1"/>
              </a:solidFill>
            </a:endParaRPr>
          </a:p>
          <a:p>
            <a:pPr indent="-2730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" sz="700">
                <a:solidFill>
                  <a:schemeClr val="dk1"/>
                </a:solidFill>
              </a:rPr>
              <a:t>AI-driven systems could optimize:</a:t>
            </a:r>
            <a:endParaRPr sz="700">
              <a:solidFill>
                <a:schemeClr val="dk1"/>
              </a:solidFill>
            </a:endParaRPr>
          </a:p>
          <a:p>
            <a:pPr indent="-2730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</a:pPr>
            <a:r>
              <a:rPr lang="en" sz="700">
                <a:solidFill>
                  <a:schemeClr val="dk1"/>
                </a:solidFill>
              </a:rPr>
              <a:t>Equipment usage</a:t>
            </a:r>
            <a:endParaRPr sz="700">
              <a:solidFill>
                <a:schemeClr val="dk1"/>
              </a:solidFill>
            </a:endParaRPr>
          </a:p>
          <a:p>
            <a:pPr indent="-2730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</a:pPr>
            <a:r>
              <a:rPr lang="en" sz="700">
                <a:solidFill>
                  <a:schemeClr val="dk1"/>
                </a:solidFill>
              </a:rPr>
              <a:t>Site logistics</a:t>
            </a:r>
            <a:endParaRPr sz="700">
              <a:solidFill>
                <a:schemeClr val="dk1"/>
              </a:solidFill>
            </a:endParaRPr>
          </a:p>
          <a:p>
            <a:pPr indent="-2730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○"/>
            </a:pPr>
            <a:r>
              <a:rPr lang="en" sz="700">
                <a:solidFill>
                  <a:schemeClr val="dk1"/>
                </a:solidFill>
              </a:rPr>
              <a:t>Predictive maintenance</a:t>
            </a:r>
            <a:endParaRPr sz="7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800"/>
              <a:buNone/>
            </a:pPr>
            <a:r>
              <a:t/>
            </a:r>
            <a:endParaRPr b="1" sz="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778aeab07_0_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2672"/>
              <a:buFont typeface="Arial"/>
              <a:buNone/>
            </a:pPr>
            <a:r>
              <a:rPr lang="en" sz="2320"/>
              <a:t>Relevance or Potential Influence on the Construction Industry Cont.</a:t>
            </a:r>
            <a:endParaRPr/>
          </a:p>
        </p:txBody>
      </p:sp>
      <p:sp>
        <p:nvSpPr>
          <p:cNvPr id="86" name="Google Shape;86;g39778aeab07_0_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5. Supply Chain and Materials Optimization</a:t>
            </a:r>
            <a:endParaRPr b="1" sz="10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AI can improve:</a:t>
            </a:r>
            <a:endParaRPr sz="800">
              <a:solidFill>
                <a:schemeClr val="dk1"/>
              </a:solidFill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en" sz="800">
                <a:solidFill>
                  <a:schemeClr val="dk1"/>
                </a:solidFill>
              </a:rPr>
              <a:t>Procurement efficiency</a:t>
            </a:r>
            <a:endParaRPr sz="800">
              <a:solidFill>
                <a:schemeClr val="dk1"/>
              </a:solidFill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en" sz="800">
                <a:solidFill>
                  <a:schemeClr val="dk1"/>
                </a:solidFill>
              </a:rPr>
              <a:t>Cost forecasting</a:t>
            </a:r>
            <a:endParaRPr sz="800">
              <a:solidFill>
                <a:schemeClr val="dk1"/>
              </a:solidFill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en" sz="800">
                <a:solidFill>
                  <a:schemeClr val="dk1"/>
                </a:solidFill>
              </a:rPr>
              <a:t>Risk management (delays, shortages)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6. Increased Importance of Data and Digital Twins</a:t>
            </a:r>
            <a:endParaRPr b="1" sz="10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With AI relying heavily on data:</a:t>
            </a:r>
            <a:endParaRPr sz="800">
              <a:solidFill>
                <a:schemeClr val="dk1"/>
              </a:solidFill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en" sz="800">
                <a:solidFill>
                  <a:schemeClr val="dk1"/>
                </a:solidFill>
              </a:rPr>
              <a:t>Construction firms will need better </a:t>
            </a:r>
            <a:r>
              <a:rPr b="1" lang="en" sz="800">
                <a:solidFill>
                  <a:schemeClr val="dk1"/>
                </a:solidFill>
              </a:rPr>
              <a:t>data collection, modeling (BIM), and integration systems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7. Energy and Infrastructure Demand</a:t>
            </a:r>
            <a:endParaRPr b="1" sz="1000">
              <a:solidFill>
                <a:schemeClr val="dk1"/>
              </a:solidFill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AI-driven energy demand (data centers, power infrastructure) may create </a:t>
            </a:r>
            <a:r>
              <a:rPr b="1" lang="en" sz="800">
                <a:solidFill>
                  <a:schemeClr val="dk1"/>
                </a:solidFill>
              </a:rPr>
              <a:t>new construction opportunities</a:t>
            </a:r>
            <a:r>
              <a:rPr lang="en" sz="800">
                <a:solidFill>
                  <a:schemeClr val="dk1"/>
                </a:solidFill>
              </a:rPr>
              <a:t>:</a:t>
            </a:r>
            <a:endParaRPr sz="800">
              <a:solidFill>
                <a:schemeClr val="dk1"/>
              </a:solidFill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en" sz="800">
                <a:solidFill>
                  <a:schemeClr val="dk1"/>
                </a:solidFill>
              </a:rPr>
              <a:t>Power plants</a:t>
            </a:r>
            <a:endParaRPr sz="800">
              <a:solidFill>
                <a:schemeClr val="dk1"/>
              </a:solidFill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en" sz="800">
                <a:solidFill>
                  <a:schemeClr val="dk1"/>
                </a:solidFill>
              </a:rPr>
              <a:t>Data centers</a:t>
            </a:r>
            <a:endParaRPr sz="800">
              <a:solidFill>
                <a:schemeClr val="dk1"/>
              </a:solidFill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</a:pPr>
            <a:r>
              <a:rPr lang="en" sz="800">
                <a:solidFill>
                  <a:schemeClr val="dk1"/>
                </a:solidFill>
              </a:rPr>
              <a:t>Grid expansion projects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